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Angel OS is a live, federated cooperative operating system running at spacesangels.com. This deck describes the current state of the platform, the federation model, the Leo AI guardian, the Nimue mobile client, and the roadmap to a 'Starfleet-ready' v1.0. The thesis in one line: each Enterprise doesn't call our API — it runs its own sovereign instance, and those instances cooperate through a constitutional protocol.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mental shift: this is federation, not microservices and not multi-tenant-SaaS-as-usual. Each Enterprise is the platform. They're not tenants renting space on our server in the SaaS sense — they're nodes that can run independently and still cooperate. That's why we call the destination 'Starfleet-ready': many ships, one fleet, shared protocol and values.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current figures as of Sprint 47. 5,210+ unit tests across 230 files is the determinism floor — the engines can evolve underneath a green suite. Zero TypeScript errors is enforced on every build. Stripe is live with direct charges and donations. The point of this slide: this is a production system with users and money flowing, not a prototype.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in four beats. The Payload choice means our data model, admin panel, access control, and API all come from one set of TypeScript interfaces — huge velocity. Multi-tenant isolation has bitten us before (a migration miss showed every tenant the platform home page), so it's now a tested invariant. Headless-first is why Nimue can exist. And the engines are the 'brain' — deliberately decoupled from the database so they're testable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 is the differentiator. Two things matter most. First, the tool count — 118 tools means Leo can create bookings, route orders, generate content and images, and search the federation, all from natural language. Second, the constitution: every Leo instance runs the same immutable prompt with anti-demonic / anti-extraction safeguards baked in. A compromised node running dark patterns violates constraints that are detectably obvious to the federation. That's how you trust a federated network of AI agents.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'Starfleet-ready.' The trust chain means a new node has to prove itself — domain ownership, constitutional acceptance, isolation guarantees — before it's a full peer. Heartbeats already carry live capacity, and the dispatch-work endpoint already routes a job from one node to another with transparent scoring. The next milestone is a clean two-node end-to-end demo and a hardened handshake so peers can't spoof identity. Suitcase portability is the philosophical core: you own your state, you can leave, the network can't trap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already moves through the system. Sellers collect directly via Stripe — we are not a payment middleman taking a cut. The donation flow passes 100% to the Justice Fund, which is the proof-point for the 501(c)(3) conversation: the charitable plumbing exists and works today. Two routing engines handle the economics — one for manufacturing splits, one for physical logistics. Beyond v1.0, the token economy formalizes contribution into value via 'Proof of Human Worth.'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Nimue is the mobile front of the fleet. The media browser just got a major upgrade — a real viewer with prev/next, video/image filtering, sorting, thumbnail sizing, and auto-advance. The bigger vision is 'Keep on steroids': the phone is the capture layer, Keep is the free ubiquitous storage, and Angel OS holds the structured, queryable, multi-tenant layer on top. The near-term engineering goal is a Capacitor-wrapped installable APK, then full file operations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reads left to right as a sequence, not a wish list. NOW is about perfecting the flagship node — because federation multiplies whatever state the flagship is in. NEXT is the federation handshake and a clean two-node demo, your proof-of-life for partners. THEN is frictionless onboarding so a new Enterprise can spin up with one command and a conversation, not a manual. v1.0 is defined concretely: three live federated Enterprises, fair-split payments, and real Justice Fund disbursements. Target window is Q3 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'which model should we use' question structurally. The right answer isn't a model — it's the test suite. 5,210 tests over pure-function engines mean the model underneath can vary safely. For stylistic consistency, pin one Opus version per sprint and re-baseline at the boundary after a regression pass. Newer models reason better across the 42-collection codebase; don't trade that away for false determinism, because these models sample probabilistically anyway.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 — there are standard solutions, you don't need to build this from scratch. Three tiers. GitHub Projects + Discussions is the zero-friction start: a public roadmap board, Discussions where people up-vote with reactions, and every item links directly to the issue and the code. Fider is the open-source self-hosted option that matches the sovereignty ethos — and could literally become an Angel OS applet so the platform dogfoods its own community tooling. Canny/Featurebase are the polished hosted route if you want it live tomorrow. My recommendation: start on GitHub Projects today for traceability, graduate to a Fider applet as the community scales.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mission. The technology — federation, constitutional AI, the Justice Fund — all serves a simple thesis: everyone gets an Angel. The system is non-coercive by constitutional design; faith is the root and invitation is the method. That's the difference between a platform that extracts and one that serves.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2423160"/>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5486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606040"/>
            <a:ext cx="10698480" cy="1280160"/>
          </a:xfrm>
          <a:prstGeom prst="rect">
            <a:avLst/>
          </a:prstGeom>
          <a:noFill/>
        </p:spPr>
        <p:txBody>
          <a:bodyPr wrap="square" anchor="t">
            <a:spAutoFit/>
          </a:bodyPr>
          <a:lstStyle/>
          <a:p>
            <a:pPr algn="l"/>
            <a:r>
              <a:rPr sz="7200" b="1" i="0">
                <a:solidFill>
                  <a:srgbClr val="FF9F1C"/>
                </a:solidFill>
                <a:latin typeface="Segoe UI"/>
              </a:rPr>
              <a:t>ANGEL OS</a:t>
            </a:r>
          </a:p>
        </p:txBody>
      </p:sp>
      <p:sp>
        <p:nvSpPr>
          <p:cNvPr id="5" name="TextBox 4"/>
          <p:cNvSpPr txBox="1"/>
          <p:nvPr/>
        </p:nvSpPr>
        <p:spPr>
          <a:xfrm>
            <a:off x="777240" y="3611880"/>
            <a:ext cx="10698480" cy="640080"/>
          </a:xfrm>
          <a:prstGeom prst="rect">
            <a:avLst/>
          </a:prstGeom>
          <a:noFill/>
        </p:spPr>
        <p:txBody>
          <a:bodyPr wrap="square" anchor="t">
            <a:spAutoFit/>
          </a:bodyPr>
          <a:lstStyle/>
          <a:p>
            <a:pPr algn="l"/>
            <a:r>
              <a:rPr sz="2800" b="0" i="0">
                <a:solidFill>
                  <a:srgbClr val="F5F5F7"/>
                </a:solidFill>
                <a:latin typeface="Segoe UI"/>
              </a:rPr>
              <a:t>A Federated Cooperative Operating System</a:t>
            </a:r>
          </a:p>
        </p:txBody>
      </p:sp>
      <p:sp>
        <p:nvSpPr>
          <p:cNvPr id="6" name="TextBox 5"/>
          <p:cNvSpPr txBox="1"/>
          <p:nvPr/>
        </p:nvSpPr>
        <p:spPr>
          <a:xfrm>
            <a:off x="777240" y="4343400"/>
            <a:ext cx="10698480" cy="548640"/>
          </a:xfrm>
          <a:prstGeom prst="rect">
            <a:avLst/>
          </a:prstGeom>
          <a:noFill/>
        </p:spPr>
        <p:txBody>
          <a:bodyPr wrap="square" anchor="t">
            <a:spAutoFit/>
          </a:bodyPr>
          <a:lstStyle/>
          <a:p>
            <a:pPr algn="l"/>
            <a:r>
              <a:rPr sz="1500" b="0" i="0">
                <a:solidFill>
                  <a:srgbClr val="4CC9F0"/>
                </a:solidFill>
                <a:latin typeface="Segoe UI"/>
              </a:rPr>
              <a:t>Constitutional AI · Multi-Tenant Commerce · Sovereign Federation</a:t>
            </a:r>
          </a:p>
        </p:txBody>
      </p:sp>
      <p:sp>
        <p:nvSpPr>
          <p:cNvPr id="7" name="TextBox 6"/>
          <p:cNvSpPr txBox="1"/>
          <p:nvPr/>
        </p:nvSpPr>
        <p:spPr>
          <a:xfrm>
            <a:off x="777240" y="6126480"/>
            <a:ext cx="10698480" cy="457200"/>
          </a:xfrm>
          <a:prstGeom prst="rect">
            <a:avLst/>
          </a:prstGeom>
          <a:noFill/>
        </p:spPr>
        <p:txBody>
          <a:bodyPr wrap="square" anchor="t">
            <a:spAutoFit/>
          </a:bodyPr>
          <a:lstStyle/>
          <a:p>
            <a:pPr algn="l"/>
            <a:r>
              <a:rPr sz="1200" b="0" i="0">
                <a:solidFill>
                  <a:srgbClr val="9A9AA6"/>
                </a:solidFill>
                <a:latin typeface="Segoe UI"/>
              </a:rPr>
              <a:t>spacesangels.com  ·  State of the System  ·  Sprint 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What Angel OS Is</a:t>
            </a:r>
          </a:p>
        </p:txBody>
      </p:sp>
      <p:sp>
        <p:nvSpPr>
          <p:cNvPr id="5" name="TextBox 4"/>
          <p:cNvSpPr txBox="1"/>
          <p:nvPr/>
        </p:nvSpPr>
        <p:spPr>
          <a:xfrm>
            <a:off x="731520" y="1920240"/>
            <a:ext cx="10698480" cy="3657600"/>
          </a:xfrm>
          <a:prstGeom prst="rect">
            <a:avLst/>
          </a:prstGeom>
          <a:noFill/>
        </p:spPr>
        <p:txBody>
          <a:bodyPr wrap="square" anchor="t">
            <a:spAutoFit/>
          </a:bodyPr>
          <a:lstStyle/>
          <a:p>
            <a:pPr algn="l"/>
            <a:r>
              <a:rPr sz="2400" b="0" i="0">
                <a:solidFill>
                  <a:srgbClr val="F5F5F7"/>
                </a:solidFill>
                <a:latin typeface="Segoe UI"/>
              </a:rPr>
              <a:t>Not a SaaS you log into. A platform each community RUNS.
Every Enterprise is a sovereign node — its own data, its own AI guardian, its own storefront — federated with the others through a constitutional trust protocol. Commerce, communication, governance, and intelligence in one multi-tenant operating system, with a guardian angel named Leo at the helm.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By the Numbers</a:t>
            </a:r>
          </a:p>
        </p:txBody>
      </p:sp>
      <p:sp>
        <p:nvSpPr>
          <p:cNvPr id="5" name="Rectangle 4"/>
          <p:cNvSpPr/>
          <p:nvPr/>
        </p:nvSpPr>
        <p:spPr>
          <a:xfrm>
            <a:off x="640080" y="1737360"/>
            <a:ext cx="2697480" cy="2148840"/>
          </a:xfrm>
          <a:prstGeom prst="rect">
            <a:avLst/>
          </a:prstGeom>
          <a:solidFill>
            <a:srgbClr val="12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37360"/>
            <a:ext cx="2697480" cy="109728"/>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2697480" cy="1005840"/>
          </a:xfrm>
          <a:prstGeom prst="rect">
            <a:avLst/>
          </a:prstGeom>
          <a:noFill/>
        </p:spPr>
        <p:txBody>
          <a:bodyPr wrap="square" anchor="t">
            <a:spAutoFit/>
          </a:bodyPr>
          <a:lstStyle/>
          <a:p>
            <a:pPr algn="ctr"/>
            <a:r>
              <a:rPr sz="4000" b="1" i="0">
                <a:solidFill>
                  <a:srgbClr val="FF9F1C"/>
                </a:solidFill>
                <a:latin typeface="Segoe UI"/>
              </a:rPr>
              <a:t>47</a:t>
            </a:r>
          </a:p>
        </p:txBody>
      </p:sp>
      <p:sp>
        <p:nvSpPr>
          <p:cNvPr id="8" name="TextBox 7"/>
          <p:cNvSpPr txBox="1"/>
          <p:nvPr/>
        </p:nvSpPr>
        <p:spPr>
          <a:xfrm>
            <a:off x="640080" y="3200400"/>
            <a:ext cx="2697480" cy="548640"/>
          </a:xfrm>
          <a:prstGeom prst="rect">
            <a:avLst/>
          </a:prstGeom>
          <a:noFill/>
        </p:spPr>
        <p:txBody>
          <a:bodyPr wrap="square" anchor="t">
            <a:spAutoFit/>
          </a:bodyPr>
          <a:lstStyle/>
          <a:p>
            <a:pPr algn="ctr"/>
            <a:r>
              <a:rPr sz="1400" b="0" i="0">
                <a:solidFill>
                  <a:srgbClr val="9A9AA6"/>
                </a:solidFill>
                <a:latin typeface="Segoe UI"/>
              </a:rPr>
              <a:t>Sprints shipped</a:t>
            </a:r>
          </a:p>
        </p:txBody>
      </p:sp>
      <p:sp>
        <p:nvSpPr>
          <p:cNvPr id="9" name="Rectangle 8"/>
          <p:cNvSpPr/>
          <p:nvPr/>
        </p:nvSpPr>
        <p:spPr>
          <a:xfrm>
            <a:off x="3429000" y="1737360"/>
            <a:ext cx="2697480" cy="2148840"/>
          </a:xfrm>
          <a:prstGeom prst="rect">
            <a:avLst/>
          </a:prstGeom>
          <a:solidFill>
            <a:srgbClr val="12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737360"/>
            <a:ext cx="2697480" cy="109728"/>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2194560"/>
            <a:ext cx="2697480" cy="1005840"/>
          </a:xfrm>
          <a:prstGeom prst="rect">
            <a:avLst/>
          </a:prstGeom>
          <a:noFill/>
        </p:spPr>
        <p:txBody>
          <a:bodyPr wrap="square" anchor="t">
            <a:spAutoFit/>
          </a:bodyPr>
          <a:lstStyle/>
          <a:p>
            <a:pPr algn="ctr"/>
            <a:r>
              <a:rPr sz="4000" b="1" i="0">
                <a:solidFill>
                  <a:srgbClr val="9D4EDD"/>
                </a:solidFill>
                <a:latin typeface="Segoe UI"/>
              </a:rPr>
              <a:t>42</a:t>
            </a:r>
          </a:p>
        </p:txBody>
      </p:sp>
      <p:sp>
        <p:nvSpPr>
          <p:cNvPr id="12" name="TextBox 11"/>
          <p:cNvSpPr txBox="1"/>
          <p:nvPr/>
        </p:nvSpPr>
        <p:spPr>
          <a:xfrm>
            <a:off x="3429000" y="3200400"/>
            <a:ext cx="2697480" cy="548640"/>
          </a:xfrm>
          <a:prstGeom prst="rect">
            <a:avLst/>
          </a:prstGeom>
          <a:noFill/>
        </p:spPr>
        <p:txBody>
          <a:bodyPr wrap="square" anchor="t">
            <a:spAutoFit/>
          </a:bodyPr>
          <a:lstStyle/>
          <a:p>
            <a:pPr algn="ctr"/>
            <a:r>
              <a:rPr sz="1400" b="0" i="0">
                <a:solidFill>
                  <a:srgbClr val="9A9AA6"/>
                </a:solidFill>
                <a:latin typeface="Segoe UI"/>
              </a:rPr>
              <a:t>Payload collections</a:t>
            </a:r>
          </a:p>
        </p:txBody>
      </p:sp>
      <p:sp>
        <p:nvSpPr>
          <p:cNvPr id="13" name="Rectangle 12"/>
          <p:cNvSpPr/>
          <p:nvPr/>
        </p:nvSpPr>
        <p:spPr>
          <a:xfrm>
            <a:off x="6217920" y="1737360"/>
            <a:ext cx="2697480" cy="2148840"/>
          </a:xfrm>
          <a:prstGeom prst="rect">
            <a:avLst/>
          </a:prstGeom>
          <a:solidFill>
            <a:srgbClr val="12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737360"/>
            <a:ext cx="2697480" cy="10972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194560"/>
            <a:ext cx="2697480" cy="1005840"/>
          </a:xfrm>
          <a:prstGeom prst="rect">
            <a:avLst/>
          </a:prstGeom>
          <a:noFill/>
        </p:spPr>
        <p:txBody>
          <a:bodyPr wrap="square" anchor="t">
            <a:spAutoFit/>
          </a:bodyPr>
          <a:lstStyle/>
          <a:p>
            <a:pPr algn="ctr"/>
            <a:r>
              <a:rPr sz="4000" b="1" i="0">
                <a:solidFill>
                  <a:srgbClr val="4CC9F0"/>
                </a:solidFill>
                <a:latin typeface="Segoe UI"/>
              </a:rPr>
              <a:t>15</a:t>
            </a:r>
          </a:p>
        </p:txBody>
      </p:sp>
      <p:sp>
        <p:nvSpPr>
          <p:cNvPr id="16" name="TextBox 15"/>
          <p:cNvSpPr txBox="1"/>
          <p:nvPr/>
        </p:nvSpPr>
        <p:spPr>
          <a:xfrm>
            <a:off x="6217920" y="3200400"/>
            <a:ext cx="2697480" cy="548640"/>
          </a:xfrm>
          <a:prstGeom prst="rect">
            <a:avLst/>
          </a:prstGeom>
          <a:noFill/>
        </p:spPr>
        <p:txBody>
          <a:bodyPr wrap="square" anchor="t">
            <a:spAutoFit/>
          </a:bodyPr>
          <a:lstStyle/>
          <a:p>
            <a:pPr algn="ctr"/>
            <a:r>
              <a:rPr sz="1400" b="0" i="0">
                <a:solidFill>
                  <a:srgbClr val="9A9AA6"/>
                </a:solidFill>
                <a:latin typeface="Segoe UI"/>
              </a:rPr>
              <a:t>Intelligence engines</a:t>
            </a:r>
          </a:p>
        </p:txBody>
      </p:sp>
      <p:sp>
        <p:nvSpPr>
          <p:cNvPr id="17" name="Rectangle 16"/>
          <p:cNvSpPr/>
          <p:nvPr/>
        </p:nvSpPr>
        <p:spPr>
          <a:xfrm>
            <a:off x="9006840" y="1737360"/>
            <a:ext cx="2697480" cy="2148840"/>
          </a:xfrm>
          <a:prstGeom prst="rect">
            <a:avLst/>
          </a:prstGeom>
          <a:solidFill>
            <a:srgbClr val="12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06840" y="1737360"/>
            <a:ext cx="2697480" cy="109728"/>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2194560"/>
            <a:ext cx="2697480" cy="1005840"/>
          </a:xfrm>
          <a:prstGeom prst="rect">
            <a:avLst/>
          </a:prstGeom>
          <a:noFill/>
        </p:spPr>
        <p:txBody>
          <a:bodyPr wrap="square" anchor="t">
            <a:spAutoFit/>
          </a:bodyPr>
          <a:lstStyle/>
          <a:p>
            <a:pPr algn="ctr"/>
            <a:r>
              <a:rPr sz="4000" b="1" i="0">
                <a:solidFill>
                  <a:srgbClr val="52D273"/>
                </a:solidFill>
                <a:latin typeface="Segoe UI"/>
              </a:rPr>
              <a:t>118</a:t>
            </a:r>
          </a:p>
        </p:txBody>
      </p:sp>
      <p:sp>
        <p:nvSpPr>
          <p:cNvPr id="20" name="TextBox 19"/>
          <p:cNvSpPr txBox="1"/>
          <p:nvPr/>
        </p:nvSpPr>
        <p:spPr>
          <a:xfrm>
            <a:off x="9006840" y="3200400"/>
            <a:ext cx="2697480" cy="548640"/>
          </a:xfrm>
          <a:prstGeom prst="rect">
            <a:avLst/>
          </a:prstGeom>
          <a:noFill/>
        </p:spPr>
        <p:txBody>
          <a:bodyPr wrap="square" anchor="t">
            <a:spAutoFit/>
          </a:bodyPr>
          <a:lstStyle/>
          <a:p>
            <a:pPr algn="ctr"/>
            <a:r>
              <a:rPr sz="1400" b="0" i="0">
                <a:solidFill>
                  <a:srgbClr val="9A9AA6"/>
                </a:solidFill>
                <a:latin typeface="Segoe UI"/>
              </a:rPr>
              <a:t>Leo AI tools</a:t>
            </a:r>
          </a:p>
        </p:txBody>
      </p:sp>
      <p:sp>
        <p:nvSpPr>
          <p:cNvPr id="21" name="Rectangle 20"/>
          <p:cNvSpPr/>
          <p:nvPr/>
        </p:nvSpPr>
        <p:spPr>
          <a:xfrm>
            <a:off x="640080" y="3977640"/>
            <a:ext cx="2697480" cy="2148840"/>
          </a:xfrm>
          <a:prstGeom prst="rect">
            <a:avLst/>
          </a:prstGeom>
          <a:solidFill>
            <a:srgbClr val="12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977640"/>
            <a:ext cx="2697480" cy="109728"/>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434840"/>
            <a:ext cx="2697480" cy="1005840"/>
          </a:xfrm>
          <a:prstGeom prst="rect">
            <a:avLst/>
          </a:prstGeom>
          <a:noFill/>
        </p:spPr>
        <p:txBody>
          <a:bodyPr wrap="square" anchor="t">
            <a:spAutoFit/>
          </a:bodyPr>
          <a:lstStyle/>
          <a:p>
            <a:pPr algn="ctr"/>
            <a:r>
              <a:rPr sz="4000" b="1" i="0">
                <a:solidFill>
                  <a:srgbClr val="FF9F1C"/>
                </a:solidFill>
                <a:latin typeface="Segoe UI"/>
              </a:rPr>
              <a:t>5,210+</a:t>
            </a:r>
          </a:p>
        </p:txBody>
      </p:sp>
      <p:sp>
        <p:nvSpPr>
          <p:cNvPr id="24" name="TextBox 23"/>
          <p:cNvSpPr txBox="1"/>
          <p:nvPr/>
        </p:nvSpPr>
        <p:spPr>
          <a:xfrm>
            <a:off x="640080" y="5440680"/>
            <a:ext cx="2697480" cy="548640"/>
          </a:xfrm>
          <a:prstGeom prst="rect">
            <a:avLst/>
          </a:prstGeom>
          <a:noFill/>
        </p:spPr>
        <p:txBody>
          <a:bodyPr wrap="square" anchor="t">
            <a:spAutoFit/>
          </a:bodyPr>
          <a:lstStyle/>
          <a:p>
            <a:pPr algn="ctr"/>
            <a:r>
              <a:rPr sz="1400" b="0" i="0">
                <a:solidFill>
                  <a:srgbClr val="9A9AA6"/>
                </a:solidFill>
                <a:latin typeface="Segoe UI"/>
              </a:rPr>
              <a:t>Unit tests</a:t>
            </a:r>
          </a:p>
        </p:txBody>
      </p:sp>
      <p:sp>
        <p:nvSpPr>
          <p:cNvPr id="25" name="Rectangle 24"/>
          <p:cNvSpPr/>
          <p:nvPr/>
        </p:nvSpPr>
        <p:spPr>
          <a:xfrm>
            <a:off x="3429000" y="3977640"/>
            <a:ext cx="2697480" cy="2148840"/>
          </a:xfrm>
          <a:prstGeom prst="rect">
            <a:avLst/>
          </a:prstGeom>
          <a:solidFill>
            <a:srgbClr val="12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29000" y="3977640"/>
            <a:ext cx="2697480" cy="109728"/>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4434840"/>
            <a:ext cx="2697480" cy="1005840"/>
          </a:xfrm>
          <a:prstGeom prst="rect">
            <a:avLst/>
          </a:prstGeom>
          <a:noFill/>
        </p:spPr>
        <p:txBody>
          <a:bodyPr wrap="square" anchor="t">
            <a:spAutoFit/>
          </a:bodyPr>
          <a:lstStyle/>
          <a:p>
            <a:pPr algn="ctr"/>
            <a:r>
              <a:rPr sz="4000" b="1" i="0">
                <a:solidFill>
                  <a:srgbClr val="9D4EDD"/>
                </a:solidFill>
                <a:latin typeface="Segoe UI"/>
              </a:rPr>
              <a:t>0</a:t>
            </a:r>
          </a:p>
        </p:txBody>
      </p:sp>
      <p:sp>
        <p:nvSpPr>
          <p:cNvPr id="28" name="TextBox 27"/>
          <p:cNvSpPr txBox="1"/>
          <p:nvPr/>
        </p:nvSpPr>
        <p:spPr>
          <a:xfrm>
            <a:off x="3429000" y="5440680"/>
            <a:ext cx="2697480" cy="548640"/>
          </a:xfrm>
          <a:prstGeom prst="rect">
            <a:avLst/>
          </a:prstGeom>
          <a:noFill/>
        </p:spPr>
        <p:txBody>
          <a:bodyPr wrap="square" anchor="t">
            <a:spAutoFit/>
          </a:bodyPr>
          <a:lstStyle/>
          <a:p>
            <a:pPr algn="ctr"/>
            <a:r>
              <a:rPr sz="1400" b="0" i="0">
                <a:solidFill>
                  <a:srgbClr val="9A9AA6"/>
                </a:solidFill>
                <a:latin typeface="Segoe UI"/>
              </a:rPr>
              <a:t>TypeScript errors</a:t>
            </a:r>
          </a:p>
        </p:txBody>
      </p:sp>
      <p:sp>
        <p:nvSpPr>
          <p:cNvPr id="29" name="Rectangle 28"/>
          <p:cNvSpPr/>
          <p:nvPr/>
        </p:nvSpPr>
        <p:spPr>
          <a:xfrm>
            <a:off x="6217920" y="3977640"/>
            <a:ext cx="2697480" cy="2148840"/>
          </a:xfrm>
          <a:prstGeom prst="rect">
            <a:avLst/>
          </a:prstGeom>
          <a:solidFill>
            <a:srgbClr val="12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3977640"/>
            <a:ext cx="2697480" cy="109728"/>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4434840"/>
            <a:ext cx="2697480" cy="1005840"/>
          </a:xfrm>
          <a:prstGeom prst="rect">
            <a:avLst/>
          </a:prstGeom>
          <a:noFill/>
        </p:spPr>
        <p:txBody>
          <a:bodyPr wrap="square" anchor="t">
            <a:spAutoFit/>
          </a:bodyPr>
          <a:lstStyle/>
          <a:p>
            <a:pPr algn="ctr"/>
            <a:r>
              <a:rPr sz="4000" b="1" i="0">
                <a:solidFill>
                  <a:srgbClr val="4CC9F0"/>
                </a:solidFill>
                <a:latin typeface="Segoe UI"/>
              </a:rPr>
              <a:t>74+</a:t>
            </a:r>
          </a:p>
        </p:txBody>
      </p:sp>
      <p:sp>
        <p:nvSpPr>
          <p:cNvPr id="32" name="TextBox 31"/>
          <p:cNvSpPr txBox="1"/>
          <p:nvPr/>
        </p:nvSpPr>
        <p:spPr>
          <a:xfrm>
            <a:off x="6217920" y="5440680"/>
            <a:ext cx="2697480" cy="548640"/>
          </a:xfrm>
          <a:prstGeom prst="rect">
            <a:avLst/>
          </a:prstGeom>
          <a:noFill/>
        </p:spPr>
        <p:txBody>
          <a:bodyPr wrap="square" anchor="t">
            <a:spAutoFit/>
          </a:bodyPr>
          <a:lstStyle/>
          <a:p>
            <a:pPr algn="ctr"/>
            <a:r>
              <a:rPr sz="1400" b="0" i="0">
                <a:solidFill>
                  <a:srgbClr val="9A9AA6"/>
                </a:solidFill>
                <a:latin typeface="Segoe UI"/>
              </a:rPr>
              <a:t>API endpoints</a:t>
            </a:r>
          </a:p>
        </p:txBody>
      </p:sp>
      <p:sp>
        <p:nvSpPr>
          <p:cNvPr id="33" name="Rectangle 32"/>
          <p:cNvSpPr/>
          <p:nvPr/>
        </p:nvSpPr>
        <p:spPr>
          <a:xfrm>
            <a:off x="9006840" y="3977640"/>
            <a:ext cx="2697480" cy="2148840"/>
          </a:xfrm>
          <a:prstGeom prst="rect">
            <a:avLst/>
          </a:prstGeom>
          <a:solidFill>
            <a:srgbClr val="12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06840" y="3977640"/>
            <a:ext cx="2697480" cy="109728"/>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6840" y="4434840"/>
            <a:ext cx="2697480" cy="1005840"/>
          </a:xfrm>
          <a:prstGeom prst="rect">
            <a:avLst/>
          </a:prstGeom>
          <a:noFill/>
        </p:spPr>
        <p:txBody>
          <a:bodyPr wrap="square" anchor="t">
            <a:spAutoFit/>
          </a:bodyPr>
          <a:lstStyle/>
          <a:p>
            <a:pPr algn="ctr"/>
            <a:r>
              <a:rPr sz="4000" b="1" i="0">
                <a:solidFill>
                  <a:srgbClr val="52D273"/>
                </a:solidFill>
                <a:latin typeface="Segoe UI"/>
              </a:rPr>
              <a:t>LIVE</a:t>
            </a:r>
          </a:p>
        </p:txBody>
      </p:sp>
      <p:sp>
        <p:nvSpPr>
          <p:cNvPr id="36" name="TextBox 35"/>
          <p:cNvSpPr txBox="1"/>
          <p:nvPr/>
        </p:nvSpPr>
        <p:spPr>
          <a:xfrm>
            <a:off x="9006840" y="5440680"/>
            <a:ext cx="2697480" cy="548640"/>
          </a:xfrm>
          <a:prstGeom prst="rect">
            <a:avLst/>
          </a:prstGeom>
          <a:noFill/>
        </p:spPr>
        <p:txBody>
          <a:bodyPr wrap="square" anchor="t">
            <a:spAutoFit/>
          </a:bodyPr>
          <a:lstStyle/>
          <a:p>
            <a:pPr algn="ctr"/>
            <a:r>
              <a:rPr sz="1400" b="0" i="0">
                <a:solidFill>
                  <a:srgbClr val="9A9AA6"/>
                </a:solidFill>
                <a:latin typeface="Segoe UI"/>
              </a:rPr>
              <a:t>Stripe payments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Architecture</a:t>
            </a:r>
          </a:p>
        </p:txBody>
      </p:sp>
      <p:sp>
        <p:nvSpPr>
          <p:cNvPr id="5" name="Rectangle 4"/>
          <p:cNvSpPr/>
          <p:nvPr/>
        </p:nvSpPr>
        <p:spPr>
          <a:xfrm>
            <a:off x="640080" y="1856232"/>
            <a:ext cx="146304" cy="146304"/>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10424160" cy="457200"/>
          </a:xfrm>
          <a:prstGeom prst="rect">
            <a:avLst/>
          </a:prstGeom>
          <a:noFill/>
        </p:spPr>
        <p:txBody>
          <a:bodyPr wrap="square" anchor="t">
            <a:spAutoFit/>
          </a:bodyPr>
          <a:lstStyle/>
          <a:p>
            <a:pPr algn="l"/>
            <a:r>
              <a:rPr sz="1900" b="1" i="0">
                <a:solidFill>
                  <a:srgbClr val="F5F5F7"/>
                </a:solidFill>
                <a:latin typeface="Segoe UI"/>
              </a:rPr>
              <a:t>Payload CMS 3.x + Next.js 16 + React 19 + PostgreSQL</a:t>
            </a:r>
          </a:p>
        </p:txBody>
      </p:sp>
      <p:sp>
        <p:nvSpPr>
          <p:cNvPr id="7" name="TextBox 6"/>
          <p:cNvSpPr txBox="1"/>
          <p:nvPr/>
        </p:nvSpPr>
        <p:spPr>
          <a:xfrm>
            <a:off x="960120" y="2167128"/>
            <a:ext cx="10424160" cy="640080"/>
          </a:xfrm>
          <a:prstGeom prst="rect">
            <a:avLst/>
          </a:prstGeom>
          <a:noFill/>
        </p:spPr>
        <p:txBody>
          <a:bodyPr wrap="square" anchor="t">
            <a:spAutoFit/>
          </a:bodyPr>
          <a:lstStyle/>
          <a:p>
            <a:pPr algn="l"/>
            <a:r>
              <a:rPr sz="1350" b="0" i="0">
                <a:solidFill>
                  <a:srgbClr val="9A9AA6"/>
                </a:solidFill>
                <a:latin typeface="Segoe UI"/>
              </a:rPr>
              <a:t>Typed ORM — every collection is a TS interface that generates schema, admin UI, and REST/GraphQL. We don't write CRUD.</a:t>
            </a:r>
          </a:p>
        </p:txBody>
      </p:sp>
      <p:sp>
        <p:nvSpPr>
          <p:cNvPr id="8" name="Rectangle 7"/>
          <p:cNvSpPr/>
          <p:nvPr/>
        </p:nvSpPr>
        <p:spPr>
          <a:xfrm>
            <a:off x="640080" y="3017520"/>
            <a:ext cx="146304" cy="146304"/>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44368"/>
            <a:ext cx="10424160" cy="457200"/>
          </a:xfrm>
          <a:prstGeom prst="rect">
            <a:avLst/>
          </a:prstGeom>
          <a:noFill/>
        </p:spPr>
        <p:txBody>
          <a:bodyPr wrap="square" anchor="t">
            <a:spAutoFit/>
          </a:bodyPr>
          <a:lstStyle/>
          <a:p>
            <a:pPr algn="l"/>
            <a:r>
              <a:rPr sz="1900" b="1" i="0">
                <a:solidFill>
                  <a:srgbClr val="F5F5F7"/>
                </a:solidFill>
                <a:latin typeface="Segoe UI"/>
              </a:rPr>
              <a:t>Multi-tenant with subdomain routing</a:t>
            </a:r>
          </a:p>
        </p:txBody>
      </p:sp>
      <p:sp>
        <p:nvSpPr>
          <p:cNvPr id="10" name="TextBox 9"/>
          <p:cNvSpPr txBox="1"/>
          <p:nvPr/>
        </p:nvSpPr>
        <p:spPr>
          <a:xfrm>
            <a:off x="960120" y="3328416"/>
            <a:ext cx="10424160" cy="640080"/>
          </a:xfrm>
          <a:prstGeom prst="rect">
            <a:avLst/>
          </a:prstGeom>
          <a:noFill/>
        </p:spPr>
        <p:txBody>
          <a:bodyPr wrap="square" anchor="t">
            <a:spAutoFit/>
          </a:bodyPr>
          <a:lstStyle/>
          <a:p>
            <a:pPr algn="l"/>
            <a:r>
              <a:rPr sz="1350" b="0" i="0">
                <a:solidFill>
                  <a:srgbClr val="9A9AA6"/>
                </a:solidFill>
                <a:latin typeface="Segoe UI"/>
              </a:rPr>
              <a:t>Each Enterprise gets its own subdomain, isolated data, and branding. Isolation is provable and tested.</a:t>
            </a:r>
          </a:p>
        </p:txBody>
      </p:sp>
      <p:sp>
        <p:nvSpPr>
          <p:cNvPr id="11" name="Rectangle 10"/>
          <p:cNvSpPr/>
          <p:nvPr/>
        </p:nvSpPr>
        <p:spPr>
          <a:xfrm>
            <a:off x="640080" y="4178808"/>
            <a:ext cx="146304" cy="146304"/>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05656"/>
            <a:ext cx="10424160" cy="457200"/>
          </a:xfrm>
          <a:prstGeom prst="rect">
            <a:avLst/>
          </a:prstGeom>
          <a:noFill/>
        </p:spPr>
        <p:txBody>
          <a:bodyPr wrap="square" anchor="t">
            <a:spAutoFit/>
          </a:bodyPr>
          <a:lstStyle/>
          <a:p>
            <a:pPr algn="l"/>
            <a:r>
              <a:rPr sz="1900" b="1" i="0">
                <a:solidFill>
                  <a:srgbClr val="F5F5F7"/>
                </a:solidFill>
                <a:latin typeface="Segoe UI"/>
              </a:rPr>
              <a:t>Headless / API-first</a:t>
            </a:r>
          </a:p>
        </p:txBody>
      </p:sp>
      <p:sp>
        <p:nvSpPr>
          <p:cNvPr id="13" name="TextBox 12"/>
          <p:cNvSpPr txBox="1"/>
          <p:nvPr/>
        </p:nvSpPr>
        <p:spPr>
          <a:xfrm>
            <a:off x="960120" y="4489704"/>
            <a:ext cx="10424160" cy="640080"/>
          </a:xfrm>
          <a:prstGeom prst="rect">
            <a:avLst/>
          </a:prstGeom>
          <a:noFill/>
        </p:spPr>
        <p:txBody>
          <a:bodyPr wrap="square" anchor="t">
            <a:spAutoFit/>
          </a:bodyPr>
          <a:lstStyle/>
          <a:p>
            <a:pPr algn="l"/>
            <a:r>
              <a:rPr sz="1350" b="0" i="0">
                <a:solidFill>
                  <a:srgbClr val="9A9AA6"/>
                </a:solidFill>
                <a:latin typeface="Segoe UI"/>
              </a:rPr>
              <a:t>The API is the primary interface; the admin UI is the debug view. Built for clients like Nimue to ride on top.</a:t>
            </a:r>
          </a:p>
        </p:txBody>
      </p:sp>
      <p:sp>
        <p:nvSpPr>
          <p:cNvPr id="14" name="Rectangle 13"/>
          <p:cNvSpPr/>
          <p:nvPr/>
        </p:nvSpPr>
        <p:spPr>
          <a:xfrm>
            <a:off x="640080" y="5340096"/>
            <a:ext cx="146304" cy="146304"/>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66944"/>
            <a:ext cx="10424160" cy="457200"/>
          </a:xfrm>
          <a:prstGeom prst="rect">
            <a:avLst/>
          </a:prstGeom>
          <a:noFill/>
        </p:spPr>
        <p:txBody>
          <a:bodyPr wrap="square" anchor="t">
            <a:spAutoFit/>
          </a:bodyPr>
          <a:lstStyle/>
          <a:p>
            <a:pPr algn="l"/>
            <a:r>
              <a:rPr sz="1900" b="1" i="0">
                <a:solidFill>
                  <a:srgbClr val="F5F5F7"/>
                </a:solidFill>
                <a:latin typeface="Segoe UI"/>
              </a:rPr>
              <a:t>15 intelligence engines</a:t>
            </a:r>
          </a:p>
        </p:txBody>
      </p:sp>
      <p:sp>
        <p:nvSpPr>
          <p:cNvPr id="16" name="TextBox 15"/>
          <p:cNvSpPr txBox="1"/>
          <p:nvPr/>
        </p:nvSpPr>
        <p:spPr>
          <a:xfrm>
            <a:off x="960120" y="5650992"/>
            <a:ext cx="10424160" cy="640080"/>
          </a:xfrm>
          <a:prstGeom prst="rect">
            <a:avLst/>
          </a:prstGeom>
          <a:noFill/>
        </p:spPr>
        <p:txBody>
          <a:bodyPr wrap="square" anchor="t">
            <a:spAutoFit/>
          </a:bodyPr>
          <a:lstStyle/>
          <a:p>
            <a:pPr algn="l"/>
            <a:r>
              <a:rPr sz="1350" b="0" i="0">
                <a:solidFill>
                  <a:srgbClr val="9A9AA6"/>
                </a:solidFill>
                <a:latin typeface="Segoe UI"/>
              </a:rPr>
              <a:t>Routing, pheromone swarm navigation, workload distribution, booking, logistics, order routing — pure functions, zero Payload imports, fully unit-tested.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Leo — The Constitutional AI Guardian</a:t>
            </a:r>
          </a:p>
        </p:txBody>
      </p:sp>
      <p:sp>
        <p:nvSpPr>
          <p:cNvPr id="5" name="Rectangle 4"/>
          <p:cNvSpPr/>
          <p:nvPr/>
        </p:nvSpPr>
        <p:spPr>
          <a:xfrm>
            <a:off x="640080" y="1856232"/>
            <a:ext cx="146304" cy="14630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10424160" cy="457200"/>
          </a:xfrm>
          <a:prstGeom prst="rect">
            <a:avLst/>
          </a:prstGeom>
          <a:noFill/>
        </p:spPr>
        <p:txBody>
          <a:bodyPr wrap="square" anchor="t">
            <a:spAutoFit/>
          </a:bodyPr>
          <a:lstStyle/>
          <a:p>
            <a:pPr algn="l"/>
            <a:r>
              <a:rPr sz="1900" b="1" i="0">
                <a:solidFill>
                  <a:srgbClr val="F5F5F7"/>
                </a:solidFill>
                <a:latin typeface="Segoe UI"/>
              </a:rPr>
              <a:t>118 tools across 17 categories</a:t>
            </a:r>
          </a:p>
        </p:txBody>
      </p:sp>
      <p:sp>
        <p:nvSpPr>
          <p:cNvPr id="7" name="TextBox 6"/>
          <p:cNvSpPr txBox="1"/>
          <p:nvPr/>
        </p:nvSpPr>
        <p:spPr>
          <a:xfrm>
            <a:off x="960120" y="2167128"/>
            <a:ext cx="10424160" cy="640080"/>
          </a:xfrm>
          <a:prstGeom prst="rect">
            <a:avLst/>
          </a:prstGeom>
          <a:noFill/>
        </p:spPr>
        <p:txBody>
          <a:bodyPr wrap="square" anchor="t">
            <a:spAutoFit/>
          </a:bodyPr>
          <a:lstStyle/>
          <a:p>
            <a:pPr algn="l"/>
            <a:r>
              <a:rPr sz="1350" b="0" i="0">
                <a:solidFill>
                  <a:srgbClr val="9A9AA6"/>
                </a:solidFill>
                <a:latin typeface="Segoe UI"/>
              </a:rPr>
              <a:t>Commerce, booking, content, federation search, image generation, governance — Leo can actually operate the platform, not just chat.</a:t>
            </a:r>
          </a:p>
        </p:txBody>
      </p:sp>
      <p:sp>
        <p:nvSpPr>
          <p:cNvPr id="8" name="Rectangle 7"/>
          <p:cNvSpPr/>
          <p:nvPr/>
        </p:nvSpPr>
        <p:spPr>
          <a:xfrm>
            <a:off x="640080" y="3017520"/>
            <a:ext cx="146304" cy="14630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44368"/>
            <a:ext cx="10424160" cy="457200"/>
          </a:xfrm>
          <a:prstGeom prst="rect">
            <a:avLst/>
          </a:prstGeom>
          <a:noFill/>
        </p:spPr>
        <p:txBody>
          <a:bodyPr wrap="square" anchor="t">
            <a:spAutoFit/>
          </a:bodyPr>
          <a:lstStyle/>
          <a:p>
            <a:pPr algn="l"/>
            <a:r>
              <a:rPr sz="1900" b="1" i="0">
                <a:solidFill>
                  <a:srgbClr val="F5F5F7"/>
                </a:solidFill>
                <a:latin typeface="Segoe UI"/>
              </a:rPr>
              <a:t>Smart multi-model routing</a:t>
            </a:r>
          </a:p>
        </p:txBody>
      </p:sp>
      <p:sp>
        <p:nvSpPr>
          <p:cNvPr id="10" name="TextBox 9"/>
          <p:cNvSpPr txBox="1"/>
          <p:nvPr/>
        </p:nvSpPr>
        <p:spPr>
          <a:xfrm>
            <a:off x="960120" y="3328416"/>
            <a:ext cx="10424160" cy="640080"/>
          </a:xfrm>
          <a:prstGeom prst="rect">
            <a:avLst/>
          </a:prstGeom>
          <a:noFill/>
        </p:spPr>
        <p:txBody>
          <a:bodyPr wrap="square" anchor="t">
            <a:spAutoFit/>
          </a:bodyPr>
          <a:lstStyle/>
          <a:p>
            <a:pPr algn="l"/>
            <a:r>
              <a:rPr sz="1350" b="0" i="0">
                <a:solidFill>
                  <a:srgbClr val="9A9AA6"/>
                </a:solidFill>
                <a:latin typeface="Segoe UI"/>
              </a:rPr>
              <a:t>4-tier credit-aware gateway: Gemini, Claude, OpenAI, OpenRouter, Cloudflare. Dynamic switching, never locked down.</a:t>
            </a:r>
          </a:p>
        </p:txBody>
      </p:sp>
      <p:sp>
        <p:nvSpPr>
          <p:cNvPr id="11" name="Rectangle 10"/>
          <p:cNvSpPr/>
          <p:nvPr/>
        </p:nvSpPr>
        <p:spPr>
          <a:xfrm>
            <a:off x="640080" y="4178808"/>
            <a:ext cx="146304" cy="14630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05656"/>
            <a:ext cx="10424160" cy="457200"/>
          </a:xfrm>
          <a:prstGeom prst="rect">
            <a:avLst/>
          </a:prstGeom>
          <a:noFill/>
        </p:spPr>
        <p:txBody>
          <a:bodyPr wrap="square" anchor="t">
            <a:spAutoFit/>
          </a:bodyPr>
          <a:lstStyle/>
          <a:p>
            <a:pPr algn="l"/>
            <a:r>
              <a:rPr sz="1900" b="1" i="0">
                <a:solidFill>
                  <a:srgbClr val="F5F5F7"/>
                </a:solidFill>
                <a:latin typeface="Segoe UI"/>
              </a:rPr>
              <a:t>Constitutional prompt — immutable</a:t>
            </a:r>
          </a:p>
        </p:txBody>
      </p:sp>
      <p:sp>
        <p:nvSpPr>
          <p:cNvPr id="13" name="TextBox 12"/>
          <p:cNvSpPr txBox="1"/>
          <p:nvPr/>
        </p:nvSpPr>
        <p:spPr>
          <a:xfrm>
            <a:off x="960120" y="4489704"/>
            <a:ext cx="10424160" cy="640080"/>
          </a:xfrm>
          <a:prstGeom prst="rect">
            <a:avLst/>
          </a:prstGeom>
          <a:noFill/>
        </p:spPr>
        <p:txBody>
          <a:bodyPr wrap="square" anchor="t">
            <a:spAutoFit/>
          </a:bodyPr>
          <a:lstStyle/>
          <a:p>
            <a:pPr algn="l"/>
            <a:r>
              <a:rPr sz="1350" b="0" i="0">
                <a:solidFill>
                  <a:srgbClr val="9A9AA6"/>
                </a:solidFill>
                <a:latin typeface="Segoe UI"/>
              </a:rPr>
              <a:t>Article II anti-extraction safeguards: no social credit, no manipulation, no dark patterns. Constraints, not toggles.</a:t>
            </a:r>
          </a:p>
        </p:txBody>
      </p:sp>
      <p:sp>
        <p:nvSpPr>
          <p:cNvPr id="14" name="Rectangle 13"/>
          <p:cNvSpPr/>
          <p:nvPr/>
        </p:nvSpPr>
        <p:spPr>
          <a:xfrm>
            <a:off x="640080" y="5340096"/>
            <a:ext cx="146304" cy="14630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66944"/>
            <a:ext cx="10424160" cy="457200"/>
          </a:xfrm>
          <a:prstGeom prst="rect">
            <a:avLst/>
          </a:prstGeom>
          <a:noFill/>
        </p:spPr>
        <p:txBody>
          <a:bodyPr wrap="square" anchor="t">
            <a:spAutoFit/>
          </a:bodyPr>
          <a:lstStyle/>
          <a:p>
            <a:pPr algn="l"/>
            <a:r>
              <a:rPr sz="1900" b="1" i="0">
                <a:solidFill>
                  <a:srgbClr val="F5F5F7"/>
                </a:solidFill>
                <a:latin typeface="Segoe UI"/>
              </a:rPr>
              <a:t>SSE streaming, vision, RAG, slash commands</a:t>
            </a:r>
          </a:p>
        </p:txBody>
      </p:sp>
      <p:sp>
        <p:nvSpPr>
          <p:cNvPr id="16" name="TextBox 15"/>
          <p:cNvSpPr txBox="1"/>
          <p:nvPr/>
        </p:nvSpPr>
        <p:spPr>
          <a:xfrm>
            <a:off x="960120" y="5650992"/>
            <a:ext cx="10424160" cy="640080"/>
          </a:xfrm>
          <a:prstGeom prst="rect">
            <a:avLst/>
          </a:prstGeom>
          <a:noFill/>
        </p:spPr>
        <p:txBody>
          <a:bodyPr wrap="square" anchor="t">
            <a:spAutoFit/>
          </a:bodyPr>
          <a:lstStyle/>
          <a:p>
            <a:pPr algn="l"/>
            <a:r>
              <a:rPr sz="1350" b="0" i="0">
                <a:solidFill>
                  <a:srgbClr val="9A9AA6"/>
                </a:solidFill>
                <a:latin typeface="Segoe UI"/>
              </a:rPr>
              <a:t>Tool-call indicators, PDF extraction, knowledge base, /model switching mid-conversation.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Federation — The Starfleet Model</a:t>
            </a:r>
          </a:p>
        </p:txBody>
      </p:sp>
      <p:sp>
        <p:nvSpPr>
          <p:cNvPr id="5" name="Rectangle 4"/>
          <p:cNvSpPr/>
          <p:nvPr/>
        </p:nvSpPr>
        <p:spPr>
          <a:xfrm>
            <a:off x="640080" y="1856232"/>
            <a:ext cx="146304" cy="14630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10424160" cy="457200"/>
          </a:xfrm>
          <a:prstGeom prst="rect">
            <a:avLst/>
          </a:prstGeom>
          <a:noFill/>
        </p:spPr>
        <p:txBody>
          <a:bodyPr wrap="square" anchor="t">
            <a:spAutoFit/>
          </a:bodyPr>
          <a:lstStyle/>
          <a:p>
            <a:pPr algn="l"/>
            <a:r>
              <a:rPr sz="1900" b="1" i="0">
                <a:solidFill>
                  <a:srgbClr val="F5F5F7"/>
                </a:solidFill>
                <a:latin typeface="Segoe UI"/>
              </a:rPr>
              <a:t>Constitutional trust chain</a:t>
            </a:r>
          </a:p>
        </p:txBody>
      </p:sp>
      <p:sp>
        <p:nvSpPr>
          <p:cNvPr id="7" name="TextBox 6"/>
          <p:cNvSpPr txBox="1"/>
          <p:nvPr/>
        </p:nvSpPr>
        <p:spPr>
          <a:xfrm>
            <a:off x="960120" y="2167128"/>
            <a:ext cx="10424160" cy="640080"/>
          </a:xfrm>
          <a:prstGeom prst="rect">
            <a:avLst/>
          </a:prstGeom>
          <a:noFill/>
        </p:spPr>
        <p:txBody>
          <a:bodyPr wrap="square" anchor="t">
            <a:spAutoFit/>
          </a:bodyPr>
          <a:lstStyle/>
          <a:p>
            <a:pPr algn="l"/>
            <a:r>
              <a:rPr sz="1350" b="0" i="0">
                <a:solidFill>
                  <a:srgbClr val="9A9AA6"/>
                </a:solidFill>
                <a:latin typeface="Segoe UI"/>
              </a:rPr>
              <a:t>none → probationary → vouched → full. Peers earn trust; they don't buy it.</a:t>
            </a:r>
          </a:p>
        </p:txBody>
      </p:sp>
      <p:sp>
        <p:nvSpPr>
          <p:cNvPr id="8" name="Rectangle 7"/>
          <p:cNvSpPr/>
          <p:nvPr/>
        </p:nvSpPr>
        <p:spPr>
          <a:xfrm>
            <a:off x="640080" y="3017520"/>
            <a:ext cx="146304" cy="14630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44368"/>
            <a:ext cx="10424160" cy="457200"/>
          </a:xfrm>
          <a:prstGeom prst="rect">
            <a:avLst/>
          </a:prstGeom>
          <a:noFill/>
        </p:spPr>
        <p:txBody>
          <a:bodyPr wrap="square" anchor="t">
            <a:spAutoFit/>
          </a:bodyPr>
          <a:lstStyle/>
          <a:p>
            <a:pPr algn="l"/>
            <a:r>
              <a:rPr sz="1900" b="1" i="0">
                <a:solidFill>
                  <a:srgbClr val="F5F5F7"/>
                </a:solidFill>
                <a:latin typeface="Segoe UI"/>
              </a:rPr>
              <a:t>Live heartbeats with capacity snapshots</a:t>
            </a:r>
          </a:p>
        </p:txBody>
      </p:sp>
      <p:sp>
        <p:nvSpPr>
          <p:cNvPr id="10" name="TextBox 9"/>
          <p:cNvSpPr txBox="1"/>
          <p:nvPr/>
        </p:nvSpPr>
        <p:spPr>
          <a:xfrm>
            <a:off x="960120" y="3328416"/>
            <a:ext cx="10424160" cy="640080"/>
          </a:xfrm>
          <a:prstGeom prst="rect">
            <a:avLst/>
          </a:prstGeom>
          <a:noFill/>
        </p:spPr>
        <p:txBody>
          <a:bodyPr wrap="square" anchor="t">
            <a:spAutoFit/>
          </a:bodyPr>
          <a:lstStyle/>
          <a:p>
            <a:pPr algn="l"/>
            <a:r>
              <a:rPr sz="1350" b="0" i="0">
                <a:solidFill>
                  <a:srgbClr val="9A9AA6"/>
                </a:solidFill>
                <a:latin typeface="Segoe UI"/>
              </a:rPr>
              <a:t>Nodes broadcast real WorkUnit capacity. Discover uses stored FQDN identity.</a:t>
            </a:r>
          </a:p>
        </p:txBody>
      </p:sp>
      <p:sp>
        <p:nvSpPr>
          <p:cNvPr id="11" name="Rectangle 10"/>
          <p:cNvSpPr/>
          <p:nvPr/>
        </p:nvSpPr>
        <p:spPr>
          <a:xfrm>
            <a:off x="640080" y="4178808"/>
            <a:ext cx="146304" cy="14630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05656"/>
            <a:ext cx="10424160" cy="457200"/>
          </a:xfrm>
          <a:prstGeom prst="rect">
            <a:avLst/>
          </a:prstGeom>
          <a:noFill/>
        </p:spPr>
        <p:txBody>
          <a:bodyPr wrap="square" anchor="t">
            <a:spAutoFit/>
          </a:bodyPr>
          <a:lstStyle/>
          <a:p>
            <a:pPr algn="l"/>
            <a:r>
              <a:rPr sz="1900" b="1" i="0">
                <a:solidFill>
                  <a:srgbClr val="F5F5F7"/>
                </a:solidFill>
                <a:latin typeface="Segoe UI"/>
              </a:rPr>
              <a:t>Cross-node work dispatch</a:t>
            </a:r>
          </a:p>
        </p:txBody>
      </p:sp>
      <p:sp>
        <p:nvSpPr>
          <p:cNvPr id="13" name="TextBox 12"/>
          <p:cNvSpPr txBox="1"/>
          <p:nvPr/>
        </p:nvSpPr>
        <p:spPr>
          <a:xfrm>
            <a:off x="960120" y="4489704"/>
            <a:ext cx="10424160" cy="640080"/>
          </a:xfrm>
          <a:prstGeom prst="rect">
            <a:avLst/>
          </a:prstGeom>
          <a:noFill/>
        </p:spPr>
        <p:txBody>
          <a:bodyPr wrap="square" anchor="t">
            <a:spAutoFit/>
          </a:bodyPr>
          <a:lstStyle/>
          <a:p>
            <a:pPr algn="l"/>
            <a:r>
              <a:rPr sz="1350" b="0" i="0">
                <a:solidFill>
                  <a:srgbClr val="9A9AA6"/>
                </a:solidFill>
                <a:latin typeface="Segoe UI"/>
              </a:rPr>
              <a:t>Validate → query peers → route via workload engine → persist WorkUnit → return scoring. Ships talking to ships.</a:t>
            </a:r>
          </a:p>
        </p:txBody>
      </p:sp>
      <p:sp>
        <p:nvSpPr>
          <p:cNvPr id="14" name="Rectangle 13"/>
          <p:cNvSpPr/>
          <p:nvPr/>
        </p:nvSpPr>
        <p:spPr>
          <a:xfrm>
            <a:off x="640080" y="5340096"/>
            <a:ext cx="146304" cy="14630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66944"/>
            <a:ext cx="10424160" cy="457200"/>
          </a:xfrm>
          <a:prstGeom prst="rect">
            <a:avLst/>
          </a:prstGeom>
          <a:noFill/>
        </p:spPr>
        <p:txBody>
          <a:bodyPr wrap="square" anchor="t">
            <a:spAutoFit/>
          </a:bodyPr>
          <a:lstStyle/>
          <a:p>
            <a:pPr algn="l"/>
            <a:r>
              <a:rPr sz="1900" b="1" i="0">
                <a:solidFill>
                  <a:srgbClr val="F5F5F7"/>
                </a:solidFill>
                <a:latin typeface="Segoe UI"/>
              </a:rPr>
              <a:t>Suitcase data portability (Article VI)</a:t>
            </a:r>
          </a:p>
        </p:txBody>
      </p:sp>
      <p:sp>
        <p:nvSpPr>
          <p:cNvPr id="16" name="TextBox 15"/>
          <p:cNvSpPr txBox="1"/>
          <p:nvPr/>
        </p:nvSpPr>
        <p:spPr>
          <a:xfrm>
            <a:off x="960120" y="5650992"/>
            <a:ext cx="10424160" cy="640080"/>
          </a:xfrm>
          <a:prstGeom prst="rect">
            <a:avLst/>
          </a:prstGeom>
          <a:noFill/>
        </p:spPr>
        <p:txBody>
          <a:bodyPr wrap="square" anchor="t">
            <a:spAutoFit/>
          </a:bodyPr>
          <a:lstStyle/>
          <a:p>
            <a:pPr algn="l"/>
            <a:r>
              <a:rPr sz="1350" b="0" i="0">
                <a:solidFill>
                  <a:srgbClr val="9A9AA6"/>
                </a:solidFill>
                <a:latin typeface="Segoe UI"/>
              </a:rPr>
              <a:t>Users teleport between servers — their state travels with them. Ed25519-signed supermajority governance.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Commerce &amp; The Justice Fund</a:t>
            </a:r>
          </a:p>
        </p:txBody>
      </p:sp>
      <p:sp>
        <p:nvSpPr>
          <p:cNvPr id="5" name="Rectangle 4"/>
          <p:cNvSpPr/>
          <p:nvPr/>
        </p:nvSpPr>
        <p:spPr>
          <a:xfrm>
            <a:off x="640080" y="1856232"/>
            <a:ext cx="146304" cy="146304"/>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10424160" cy="457200"/>
          </a:xfrm>
          <a:prstGeom prst="rect">
            <a:avLst/>
          </a:prstGeom>
          <a:noFill/>
        </p:spPr>
        <p:txBody>
          <a:bodyPr wrap="square" anchor="t">
            <a:spAutoFit/>
          </a:bodyPr>
          <a:lstStyle/>
          <a:p>
            <a:pPr algn="l"/>
            <a:r>
              <a:rPr sz="1900" b="1" i="0">
                <a:solidFill>
                  <a:srgbClr val="F5F5F7"/>
                </a:solidFill>
                <a:latin typeface="Segoe UI"/>
              </a:rPr>
              <a:t>Stripe Direct Charges — sellers collect directly</a:t>
            </a:r>
          </a:p>
        </p:txBody>
      </p:sp>
      <p:sp>
        <p:nvSpPr>
          <p:cNvPr id="7" name="TextBox 6"/>
          <p:cNvSpPr txBox="1"/>
          <p:nvPr/>
        </p:nvSpPr>
        <p:spPr>
          <a:xfrm>
            <a:off x="960120" y="2167128"/>
            <a:ext cx="10424160" cy="640080"/>
          </a:xfrm>
          <a:prstGeom prst="rect">
            <a:avLst/>
          </a:prstGeom>
          <a:noFill/>
        </p:spPr>
        <p:txBody>
          <a:bodyPr wrap="square" anchor="t">
            <a:spAutoFit/>
          </a:bodyPr>
          <a:lstStyle/>
          <a:p>
            <a:pPr algn="l"/>
            <a:r>
              <a:rPr sz="1350" b="0" i="0">
                <a:solidFill>
                  <a:srgbClr val="9A9AA6"/>
                </a:solidFill>
                <a:latin typeface="Segoe UI"/>
              </a:rPr>
              <a:t>Products, cart, checkout, orders, refunds, print-on-demand, configurator with live preview.</a:t>
            </a:r>
          </a:p>
        </p:txBody>
      </p:sp>
      <p:sp>
        <p:nvSpPr>
          <p:cNvPr id="8" name="Rectangle 7"/>
          <p:cNvSpPr/>
          <p:nvPr/>
        </p:nvSpPr>
        <p:spPr>
          <a:xfrm>
            <a:off x="640080" y="3017520"/>
            <a:ext cx="146304" cy="146304"/>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44368"/>
            <a:ext cx="10424160" cy="457200"/>
          </a:xfrm>
          <a:prstGeom prst="rect">
            <a:avLst/>
          </a:prstGeom>
          <a:noFill/>
        </p:spPr>
        <p:txBody>
          <a:bodyPr wrap="square" anchor="t">
            <a:spAutoFit/>
          </a:bodyPr>
          <a:lstStyle/>
          <a:p>
            <a:pPr algn="l"/>
            <a:r>
              <a:rPr sz="1900" b="1" i="0">
                <a:solidFill>
                  <a:srgbClr val="F5F5F7"/>
                </a:solidFill>
                <a:latin typeface="Segoe UI"/>
              </a:rPr>
              <a:t>Donation flow — 100% to the Justice Fund</a:t>
            </a:r>
          </a:p>
        </p:txBody>
      </p:sp>
      <p:sp>
        <p:nvSpPr>
          <p:cNvPr id="10" name="TextBox 9"/>
          <p:cNvSpPr txBox="1"/>
          <p:nvPr/>
        </p:nvSpPr>
        <p:spPr>
          <a:xfrm>
            <a:off x="960120" y="3328416"/>
            <a:ext cx="10424160" cy="640080"/>
          </a:xfrm>
          <a:prstGeom prst="rect">
            <a:avLst/>
          </a:prstGeom>
          <a:noFill/>
        </p:spPr>
        <p:txBody>
          <a:bodyPr wrap="square" anchor="t">
            <a:spAutoFit/>
          </a:bodyPr>
          <a:lstStyle/>
          <a:p>
            <a:pPr algn="l"/>
            <a:r>
              <a:rPr sz="1350" b="0" i="0">
                <a:solidFill>
                  <a:srgbClr val="9A9AA6"/>
                </a:solidFill>
                <a:latin typeface="Segoe UI"/>
              </a:rPr>
              <a:t>/donate page, Stripe Elements, full pass-through. Charitable mechanics already in code.</a:t>
            </a:r>
          </a:p>
        </p:txBody>
      </p:sp>
      <p:sp>
        <p:nvSpPr>
          <p:cNvPr id="11" name="Rectangle 10"/>
          <p:cNvSpPr/>
          <p:nvPr/>
        </p:nvSpPr>
        <p:spPr>
          <a:xfrm>
            <a:off x="640080" y="4178808"/>
            <a:ext cx="146304" cy="146304"/>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05656"/>
            <a:ext cx="10424160" cy="457200"/>
          </a:xfrm>
          <a:prstGeom prst="rect">
            <a:avLst/>
          </a:prstGeom>
          <a:noFill/>
        </p:spPr>
        <p:txBody>
          <a:bodyPr wrap="square" anchor="t">
            <a:spAutoFit/>
          </a:bodyPr>
          <a:lstStyle/>
          <a:p>
            <a:pPr algn="l"/>
            <a:r>
              <a:rPr sz="1900" b="1" i="0">
                <a:solidFill>
                  <a:srgbClr val="F5F5F7"/>
                </a:solidFill>
                <a:latin typeface="Segoe UI"/>
              </a:rPr>
              <a:t>Order + logistics routing engines</a:t>
            </a:r>
          </a:p>
        </p:txBody>
      </p:sp>
      <p:sp>
        <p:nvSpPr>
          <p:cNvPr id="13" name="TextBox 12"/>
          <p:cNvSpPr txBox="1"/>
          <p:nvPr/>
        </p:nvSpPr>
        <p:spPr>
          <a:xfrm>
            <a:off x="960120" y="4489704"/>
            <a:ext cx="10424160" cy="640080"/>
          </a:xfrm>
          <a:prstGeom prst="rect">
            <a:avLst/>
          </a:prstGeom>
          <a:noFill/>
        </p:spPr>
        <p:txBody>
          <a:bodyPr wrap="square" anchor="t">
            <a:spAutoFit/>
          </a:bodyPr>
          <a:lstStyle/>
          <a:p>
            <a:pPr algn="l"/>
            <a:r>
              <a:rPr sz="1350" b="0" i="0">
                <a:solidFill>
                  <a:srgbClr val="9A9AA6"/>
                </a:solidFill>
                <a:latin typeface="Segoe UI"/>
              </a:rPr>
              <a:t>Manufacturing routing (40/30/20/10 holon split) + physical-goods dispatch (Bread-Breaker + Soul Fleet).</a:t>
            </a:r>
          </a:p>
        </p:txBody>
      </p:sp>
      <p:sp>
        <p:nvSpPr>
          <p:cNvPr id="14" name="Rectangle 13"/>
          <p:cNvSpPr/>
          <p:nvPr/>
        </p:nvSpPr>
        <p:spPr>
          <a:xfrm>
            <a:off x="640080" y="5340096"/>
            <a:ext cx="146304" cy="146304"/>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66944"/>
            <a:ext cx="10424160" cy="457200"/>
          </a:xfrm>
          <a:prstGeom prst="rect">
            <a:avLst/>
          </a:prstGeom>
          <a:noFill/>
        </p:spPr>
        <p:txBody>
          <a:bodyPr wrap="square" anchor="t">
            <a:spAutoFit/>
          </a:bodyPr>
          <a:lstStyle/>
          <a:p>
            <a:pPr algn="l"/>
            <a:r>
              <a:rPr sz="1900" b="1" i="0">
                <a:solidFill>
                  <a:srgbClr val="F5F5F7"/>
                </a:solidFill>
                <a:latin typeface="Segoe UI"/>
              </a:rPr>
              <a:t>Angel Token economy (post-v1.0)</a:t>
            </a:r>
          </a:p>
        </p:txBody>
      </p:sp>
      <p:sp>
        <p:nvSpPr>
          <p:cNvPr id="16" name="TextBox 15"/>
          <p:cNvSpPr txBox="1"/>
          <p:nvPr/>
        </p:nvSpPr>
        <p:spPr>
          <a:xfrm>
            <a:off x="960120" y="5650992"/>
            <a:ext cx="10424160" cy="640080"/>
          </a:xfrm>
          <a:prstGeom prst="rect">
            <a:avLst/>
          </a:prstGeom>
          <a:noFill/>
        </p:spPr>
        <p:txBody>
          <a:bodyPr wrap="square" anchor="t">
            <a:spAutoFit/>
          </a:bodyPr>
          <a:lstStyle/>
          <a:p>
            <a:pPr algn="l"/>
            <a:r>
              <a:rPr sz="1350" b="0" i="0">
                <a:solidFill>
                  <a:srgbClr val="9A9AA6"/>
                </a:solidFill>
                <a:latin typeface="Segoe UI"/>
              </a:rPr>
              <a:t>Angel Tokens, Karma Coins, Legacy Tokens — 'Proof of Human Worth.'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Nimue — The Mobile Capture Layer</a:t>
            </a:r>
          </a:p>
        </p:txBody>
      </p:sp>
      <p:sp>
        <p:nvSpPr>
          <p:cNvPr id="5" name="Rectangle 4"/>
          <p:cNvSpPr/>
          <p:nvPr/>
        </p:nvSpPr>
        <p:spPr>
          <a:xfrm>
            <a:off x="640080" y="1856232"/>
            <a:ext cx="146304" cy="146304"/>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10424160" cy="457200"/>
          </a:xfrm>
          <a:prstGeom prst="rect">
            <a:avLst/>
          </a:prstGeom>
          <a:noFill/>
        </p:spPr>
        <p:txBody>
          <a:bodyPr wrap="square" anchor="t">
            <a:spAutoFit/>
          </a:bodyPr>
          <a:lstStyle/>
          <a:p>
            <a:pPr algn="l"/>
            <a:r>
              <a:rPr sz="1900" b="1" i="0">
                <a:solidFill>
                  <a:srgbClr val="F5F5F7"/>
                </a:solidFill>
                <a:latin typeface="Segoe UI"/>
              </a:rPr>
              <a:t>Media server + browser (C:\Dev\mediaserver)</a:t>
            </a:r>
          </a:p>
        </p:txBody>
      </p:sp>
      <p:sp>
        <p:nvSpPr>
          <p:cNvPr id="7" name="TextBox 6"/>
          <p:cNvSpPr txBox="1"/>
          <p:nvPr/>
        </p:nvSpPr>
        <p:spPr>
          <a:xfrm>
            <a:off x="960120" y="2167128"/>
            <a:ext cx="10424160" cy="640080"/>
          </a:xfrm>
          <a:prstGeom prst="rect">
            <a:avLst/>
          </a:prstGeom>
          <a:noFill/>
        </p:spPr>
        <p:txBody>
          <a:bodyPr wrap="square" anchor="t">
            <a:spAutoFit/>
          </a:bodyPr>
          <a:lstStyle/>
          <a:p>
            <a:pPr algn="l"/>
            <a:r>
              <a:rPr sz="1350" b="0" i="0">
                <a:solidFill>
                  <a:srgbClr val="9A9AA6"/>
                </a:solidFill>
                <a:latin typeface="Segoe UI"/>
              </a:rPr>
              <a:t>On-demand ffmpeg thumbnails, unified video/image viewer, filters, sort, S/M/L sizing, auto-advance. Just shipped.</a:t>
            </a:r>
          </a:p>
        </p:txBody>
      </p:sp>
      <p:sp>
        <p:nvSpPr>
          <p:cNvPr id="8" name="Rectangle 7"/>
          <p:cNvSpPr/>
          <p:nvPr/>
        </p:nvSpPr>
        <p:spPr>
          <a:xfrm>
            <a:off x="640080" y="3017520"/>
            <a:ext cx="146304" cy="146304"/>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44368"/>
            <a:ext cx="10424160" cy="457200"/>
          </a:xfrm>
          <a:prstGeom prst="rect">
            <a:avLst/>
          </a:prstGeom>
          <a:noFill/>
        </p:spPr>
        <p:txBody>
          <a:bodyPr wrap="square" anchor="t">
            <a:spAutoFit/>
          </a:bodyPr>
          <a:lstStyle/>
          <a:p>
            <a:pPr algn="l"/>
            <a:r>
              <a:rPr sz="1900" b="1" i="0">
                <a:solidFill>
                  <a:srgbClr val="F5F5F7"/>
                </a:solidFill>
                <a:latin typeface="Segoe UI"/>
              </a:rPr>
              <a:t>'Distributed Google Keep on steroids'</a:t>
            </a:r>
          </a:p>
        </p:txBody>
      </p:sp>
      <p:sp>
        <p:nvSpPr>
          <p:cNvPr id="10" name="TextBox 9"/>
          <p:cNvSpPr txBox="1"/>
          <p:nvPr/>
        </p:nvSpPr>
        <p:spPr>
          <a:xfrm>
            <a:off x="960120" y="3328416"/>
            <a:ext cx="10424160" cy="640080"/>
          </a:xfrm>
          <a:prstGeom prst="rect">
            <a:avLst/>
          </a:prstGeom>
          <a:noFill/>
        </p:spPr>
        <p:txBody>
          <a:bodyPr wrap="square" anchor="t">
            <a:spAutoFit/>
          </a:bodyPr>
          <a:lstStyle/>
          <a:p>
            <a:pPr algn="l"/>
            <a:r>
              <a:rPr sz="1350" b="0" i="0">
                <a:solidFill>
                  <a:srgbClr val="9A9AA6"/>
                </a:solidFill>
                <a:latin typeface="Segoe UI"/>
              </a:rPr>
              <a:t>Phone-first capture → Payload structured layer. Keep is the cheapest ubiquitous cloud; Angel OS stores the meta.</a:t>
            </a:r>
          </a:p>
        </p:txBody>
      </p:sp>
      <p:sp>
        <p:nvSpPr>
          <p:cNvPr id="11" name="Rectangle 10"/>
          <p:cNvSpPr/>
          <p:nvPr/>
        </p:nvSpPr>
        <p:spPr>
          <a:xfrm>
            <a:off x="640080" y="4178808"/>
            <a:ext cx="146304" cy="146304"/>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05656"/>
            <a:ext cx="10424160" cy="457200"/>
          </a:xfrm>
          <a:prstGeom prst="rect">
            <a:avLst/>
          </a:prstGeom>
          <a:noFill/>
        </p:spPr>
        <p:txBody>
          <a:bodyPr wrap="square" anchor="t">
            <a:spAutoFit/>
          </a:bodyPr>
          <a:lstStyle/>
          <a:p>
            <a:pPr algn="l"/>
            <a:r>
              <a:rPr sz="1900" b="1" i="0">
                <a:solidFill>
                  <a:srgbClr val="F5F5F7"/>
                </a:solidFill>
                <a:latin typeface="Segoe UI"/>
              </a:rPr>
              <a:t>Path to Capacitor APK</a:t>
            </a:r>
          </a:p>
        </p:txBody>
      </p:sp>
      <p:sp>
        <p:nvSpPr>
          <p:cNvPr id="13" name="TextBox 12"/>
          <p:cNvSpPr txBox="1"/>
          <p:nvPr/>
        </p:nvSpPr>
        <p:spPr>
          <a:xfrm>
            <a:off x="960120" y="4489704"/>
            <a:ext cx="10424160" cy="640080"/>
          </a:xfrm>
          <a:prstGeom prst="rect">
            <a:avLst/>
          </a:prstGeom>
          <a:noFill/>
        </p:spPr>
        <p:txBody>
          <a:bodyPr wrap="square" anchor="t">
            <a:spAutoFit/>
          </a:bodyPr>
          <a:lstStyle/>
          <a:p>
            <a:pPr algn="l"/>
            <a:r>
              <a:rPr sz="1350" b="0" i="0">
                <a:solidFill>
                  <a:srgbClr val="9A9AA6"/>
                </a:solidFill>
                <a:latin typeface="Segoe UI"/>
              </a:rPr>
              <a:t>Port chat in, go client-only, wrap with Capacitor → installable Android client.</a:t>
            </a:r>
          </a:p>
        </p:txBody>
      </p:sp>
      <p:sp>
        <p:nvSpPr>
          <p:cNvPr id="14" name="Rectangle 13"/>
          <p:cNvSpPr/>
          <p:nvPr/>
        </p:nvSpPr>
        <p:spPr>
          <a:xfrm>
            <a:off x="640080" y="5340096"/>
            <a:ext cx="146304" cy="146304"/>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66944"/>
            <a:ext cx="10424160" cy="457200"/>
          </a:xfrm>
          <a:prstGeom prst="rect">
            <a:avLst/>
          </a:prstGeom>
          <a:noFill/>
        </p:spPr>
        <p:txBody>
          <a:bodyPr wrap="square" anchor="t">
            <a:spAutoFit/>
          </a:bodyPr>
          <a:lstStyle/>
          <a:p>
            <a:pPr algn="l"/>
            <a:r>
              <a:rPr sz="1900" b="1" i="0">
                <a:solidFill>
                  <a:srgbClr val="F5F5F7"/>
                </a:solidFill>
                <a:latin typeface="Segoe UI"/>
              </a:rPr>
              <a:t>Next: full file operations</a:t>
            </a:r>
          </a:p>
        </p:txBody>
      </p:sp>
      <p:sp>
        <p:nvSpPr>
          <p:cNvPr id="16" name="TextBox 15"/>
          <p:cNvSpPr txBox="1"/>
          <p:nvPr/>
        </p:nvSpPr>
        <p:spPr>
          <a:xfrm>
            <a:off x="960120" y="5650992"/>
            <a:ext cx="10424160" cy="640080"/>
          </a:xfrm>
          <a:prstGeom prst="rect">
            <a:avLst/>
          </a:prstGeom>
          <a:noFill/>
        </p:spPr>
        <p:txBody>
          <a:bodyPr wrap="square" anchor="t">
            <a:spAutoFit/>
          </a:bodyPr>
          <a:lstStyle/>
          <a:p>
            <a:pPr algn="l"/>
            <a:r>
              <a:rPr sz="1350" b="0" i="0">
                <a:solidFill>
                  <a:srgbClr val="9A9AA6"/>
                </a:solidFill>
                <a:latin typeface="Segoe UI"/>
              </a:rPr>
              <a:t>Rename / move / copy / delete — read-safe first, destructive ops gated behind confirmation.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Roadmap to Starfleet-Ready (v1.0)</a:t>
            </a:r>
          </a:p>
        </p:txBody>
      </p:sp>
      <p:sp>
        <p:nvSpPr>
          <p:cNvPr id="5" name="Rectangle 4"/>
          <p:cNvSpPr/>
          <p:nvPr/>
        </p:nvSpPr>
        <p:spPr>
          <a:xfrm>
            <a:off x="640080" y="1783080"/>
            <a:ext cx="1554480" cy="914400"/>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39112"/>
            <a:ext cx="1554480" cy="457200"/>
          </a:xfrm>
          <a:prstGeom prst="rect">
            <a:avLst/>
          </a:prstGeom>
          <a:noFill/>
        </p:spPr>
        <p:txBody>
          <a:bodyPr wrap="square" anchor="t">
            <a:spAutoFit/>
          </a:bodyPr>
          <a:lstStyle/>
          <a:p>
            <a:pPr algn="ctr"/>
            <a:r>
              <a:rPr sz="1800" b="1" i="0">
                <a:solidFill>
                  <a:srgbClr val="050508"/>
                </a:solidFill>
                <a:latin typeface="Segoe UI"/>
              </a:rPr>
              <a:t>NOW</a:t>
            </a:r>
          </a:p>
        </p:txBody>
      </p:sp>
      <p:sp>
        <p:nvSpPr>
          <p:cNvPr id="7" name="TextBox 6"/>
          <p:cNvSpPr txBox="1"/>
          <p:nvPr/>
        </p:nvSpPr>
        <p:spPr>
          <a:xfrm>
            <a:off x="2423160" y="1801368"/>
            <a:ext cx="9144000" cy="457200"/>
          </a:xfrm>
          <a:prstGeom prst="rect">
            <a:avLst/>
          </a:prstGeom>
          <a:noFill/>
        </p:spPr>
        <p:txBody>
          <a:bodyPr wrap="square" anchor="t">
            <a:spAutoFit/>
          </a:bodyPr>
          <a:lstStyle/>
          <a:p>
            <a:pPr algn="l"/>
            <a:r>
              <a:rPr sz="2000" b="1" i="0">
                <a:solidFill>
                  <a:srgbClr val="F5F5F7"/>
                </a:solidFill>
                <a:latin typeface="Segoe UI"/>
              </a:rPr>
              <a:t>Flagship polish</a:t>
            </a:r>
          </a:p>
        </p:txBody>
      </p:sp>
      <p:sp>
        <p:nvSpPr>
          <p:cNvPr id="8" name="TextBox 7"/>
          <p:cNvSpPr txBox="1"/>
          <p:nvPr/>
        </p:nvSpPr>
        <p:spPr>
          <a:xfrm>
            <a:off x="2423160" y="2240280"/>
            <a:ext cx="9144000" cy="457200"/>
          </a:xfrm>
          <a:prstGeom prst="rect">
            <a:avLst/>
          </a:prstGeom>
          <a:noFill/>
        </p:spPr>
        <p:txBody>
          <a:bodyPr wrap="square" anchor="t">
            <a:spAutoFit/>
          </a:bodyPr>
          <a:lstStyle/>
          <a:p>
            <a:pPr algn="l"/>
            <a:r>
              <a:rPr sz="1350" b="0" i="0">
                <a:solidFill>
                  <a:srgbClr val="9A9AA6"/>
                </a:solidFill>
                <a:latin typeface="Segoe UI"/>
              </a:rPr>
              <a:t>Tenant-isolation CI gate, dependency triage, constitutional Endeavor seeds, public-surface audit.</a:t>
            </a:r>
          </a:p>
        </p:txBody>
      </p:sp>
      <p:sp>
        <p:nvSpPr>
          <p:cNvPr id="9" name="Rectangle 8"/>
          <p:cNvSpPr/>
          <p:nvPr/>
        </p:nvSpPr>
        <p:spPr>
          <a:xfrm>
            <a:off x="640080" y="2880360"/>
            <a:ext cx="1554480" cy="914400"/>
          </a:xfrm>
          <a:prstGeom prst="rect">
            <a:avLst/>
          </a:prstGeom>
          <a:solidFill>
            <a:srgbClr val="4CC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36392"/>
            <a:ext cx="1554480" cy="457200"/>
          </a:xfrm>
          <a:prstGeom prst="rect">
            <a:avLst/>
          </a:prstGeom>
          <a:noFill/>
        </p:spPr>
        <p:txBody>
          <a:bodyPr wrap="square" anchor="t">
            <a:spAutoFit/>
          </a:bodyPr>
          <a:lstStyle/>
          <a:p>
            <a:pPr algn="ctr"/>
            <a:r>
              <a:rPr sz="1800" b="1" i="0">
                <a:solidFill>
                  <a:srgbClr val="050508"/>
                </a:solidFill>
                <a:latin typeface="Segoe UI"/>
              </a:rPr>
              <a:t>NEXT</a:t>
            </a:r>
          </a:p>
        </p:txBody>
      </p:sp>
      <p:sp>
        <p:nvSpPr>
          <p:cNvPr id="11" name="TextBox 10"/>
          <p:cNvSpPr txBox="1"/>
          <p:nvPr/>
        </p:nvSpPr>
        <p:spPr>
          <a:xfrm>
            <a:off x="2423160" y="2898648"/>
            <a:ext cx="9144000" cy="457200"/>
          </a:xfrm>
          <a:prstGeom prst="rect">
            <a:avLst/>
          </a:prstGeom>
          <a:noFill/>
        </p:spPr>
        <p:txBody>
          <a:bodyPr wrap="square" anchor="t">
            <a:spAutoFit/>
          </a:bodyPr>
          <a:lstStyle/>
          <a:p>
            <a:pPr algn="l"/>
            <a:r>
              <a:rPr sz="2000" b="1" i="0">
                <a:solidFill>
                  <a:srgbClr val="F5F5F7"/>
                </a:solidFill>
                <a:latin typeface="Segoe UI"/>
              </a:rPr>
              <a:t>Federation hardening</a:t>
            </a:r>
          </a:p>
        </p:txBody>
      </p:sp>
      <p:sp>
        <p:nvSpPr>
          <p:cNvPr id="12" name="TextBox 11"/>
          <p:cNvSpPr txBox="1"/>
          <p:nvPr/>
        </p:nvSpPr>
        <p:spPr>
          <a:xfrm>
            <a:off x="2423160" y="3337560"/>
            <a:ext cx="9144000" cy="457200"/>
          </a:xfrm>
          <a:prstGeom prst="rect">
            <a:avLst/>
          </a:prstGeom>
          <a:noFill/>
        </p:spPr>
        <p:txBody>
          <a:bodyPr wrap="square" anchor="t">
            <a:spAutoFit/>
          </a:bodyPr>
          <a:lstStyle/>
          <a:p>
            <a:pPr algn="l"/>
            <a:r>
              <a:rPr sz="1350" b="0" i="0">
                <a:solidFill>
                  <a:srgbClr val="9A9AA6"/>
                </a:solidFill>
                <a:latin typeface="Segoe UI"/>
              </a:rPr>
              <a:t>Two-node dispatch demo, signed handshake (anti-spoof), peer auth, capacity-aware routing.</a:t>
            </a:r>
          </a:p>
        </p:txBody>
      </p:sp>
      <p:sp>
        <p:nvSpPr>
          <p:cNvPr id="13" name="Rectangle 12"/>
          <p:cNvSpPr/>
          <p:nvPr/>
        </p:nvSpPr>
        <p:spPr>
          <a:xfrm>
            <a:off x="640080" y="3977640"/>
            <a:ext cx="1554480" cy="914400"/>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233672"/>
            <a:ext cx="1554480" cy="457200"/>
          </a:xfrm>
          <a:prstGeom prst="rect">
            <a:avLst/>
          </a:prstGeom>
          <a:noFill/>
        </p:spPr>
        <p:txBody>
          <a:bodyPr wrap="square" anchor="t">
            <a:spAutoFit/>
          </a:bodyPr>
          <a:lstStyle/>
          <a:p>
            <a:pPr algn="ctr"/>
            <a:r>
              <a:rPr sz="1800" b="1" i="0">
                <a:solidFill>
                  <a:srgbClr val="050508"/>
                </a:solidFill>
                <a:latin typeface="Segoe UI"/>
              </a:rPr>
              <a:t>THEN</a:t>
            </a:r>
          </a:p>
        </p:txBody>
      </p:sp>
      <p:sp>
        <p:nvSpPr>
          <p:cNvPr id="15" name="TextBox 14"/>
          <p:cNvSpPr txBox="1"/>
          <p:nvPr/>
        </p:nvSpPr>
        <p:spPr>
          <a:xfrm>
            <a:off x="2423160" y="3995928"/>
            <a:ext cx="9144000" cy="457200"/>
          </a:xfrm>
          <a:prstGeom prst="rect">
            <a:avLst/>
          </a:prstGeom>
          <a:noFill/>
        </p:spPr>
        <p:txBody>
          <a:bodyPr wrap="square" anchor="t">
            <a:spAutoFit/>
          </a:bodyPr>
          <a:lstStyle/>
          <a:p>
            <a:pPr algn="l"/>
            <a:r>
              <a:rPr sz="2000" b="1" i="0">
                <a:solidFill>
                  <a:srgbClr val="F5F5F7"/>
                </a:solidFill>
                <a:latin typeface="Segoe UI"/>
              </a:rPr>
              <a:t>Frictionless onboarding</a:t>
            </a:r>
          </a:p>
        </p:txBody>
      </p:sp>
      <p:sp>
        <p:nvSpPr>
          <p:cNvPr id="16" name="TextBox 15"/>
          <p:cNvSpPr txBox="1"/>
          <p:nvPr/>
        </p:nvSpPr>
        <p:spPr>
          <a:xfrm>
            <a:off x="2423160" y="4434840"/>
            <a:ext cx="9144000" cy="457200"/>
          </a:xfrm>
          <a:prstGeom prst="rect">
            <a:avLst/>
          </a:prstGeom>
          <a:noFill/>
        </p:spPr>
        <p:txBody>
          <a:bodyPr wrap="square" anchor="t">
            <a:spAutoFit/>
          </a:bodyPr>
          <a:lstStyle/>
          <a:p>
            <a:pPr algn="l"/>
            <a:r>
              <a:rPr sz="1350" b="0" i="0">
                <a:solidFill>
                  <a:srgbClr val="9A9AA6"/>
                </a:solidFill>
                <a:latin typeface="Segoe UI"/>
              </a:rPr>
              <a:t>npx create-angel-enterprise, Leo Wizard (8-step conversational), Docker Compose self-host, CI/CD.</a:t>
            </a:r>
          </a:p>
        </p:txBody>
      </p:sp>
      <p:sp>
        <p:nvSpPr>
          <p:cNvPr id="17" name="Rectangle 16"/>
          <p:cNvSpPr/>
          <p:nvPr/>
        </p:nvSpPr>
        <p:spPr>
          <a:xfrm>
            <a:off x="640080" y="5074920"/>
            <a:ext cx="1554480" cy="914400"/>
          </a:xfrm>
          <a:prstGeom prst="rect">
            <a:avLst/>
          </a:prstGeom>
          <a:solidFill>
            <a:srgbClr val="52D2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330952"/>
            <a:ext cx="1554480" cy="457200"/>
          </a:xfrm>
          <a:prstGeom prst="rect">
            <a:avLst/>
          </a:prstGeom>
          <a:noFill/>
        </p:spPr>
        <p:txBody>
          <a:bodyPr wrap="square" anchor="t">
            <a:spAutoFit/>
          </a:bodyPr>
          <a:lstStyle/>
          <a:p>
            <a:pPr algn="ctr"/>
            <a:r>
              <a:rPr sz="1800" b="1" i="0">
                <a:solidFill>
                  <a:srgbClr val="050508"/>
                </a:solidFill>
                <a:latin typeface="Segoe UI"/>
              </a:rPr>
              <a:t>v1.0</a:t>
            </a:r>
          </a:p>
        </p:txBody>
      </p:sp>
      <p:sp>
        <p:nvSpPr>
          <p:cNvPr id="19" name="TextBox 18"/>
          <p:cNvSpPr txBox="1"/>
          <p:nvPr/>
        </p:nvSpPr>
        <p:spPr>
          <a:xfrm>
            <a:off x="2423160" y="5093208"/>
            <a:ext cx="9144000" cy="457200"/>
          </a:xfrm>
          <a:prstGeom prst="rect">
            <a:avLst/>
          </a:prstGeom>
          <a:noFill/>
        </p:spPr>
        <p:txBody>
          <a:bodyPr wrap="square" anchor="t">
            <a:spAutoFit/>
          </a:bodyPr>
          <a:lstStyle/>
          <a:p>
            <a:pPr algn="l"/>
            <a:r>
              <a:rPr sz="2000" b="1" i="0">
                <a:solidFill>
                  <a:srgbClr val="F5F5F7"/>
                </a:solidFill>
                <a:latin typeface="Segoe UI"/>
              </a:rPr>
              <a:t>3 live federated Enterprises</a:t>
            </a:r>
          </a:p>
        </p:txBody>
      </p:sp>
      <p:sp>
        <p:nvSpPr>
          <p:cNvPr id="20" name="TextBox 19"/>
          <p:cNvSpPr txBox="1"/>
          <p:nvPr/>
        </p:nvSpPr>
        <p:spPr>
          <a:xfrm>
            <a:off x="2423160" y="5532120"/>
            <a:ext cx="9144000" cy="457200"/>
          </a:xfrm>
          <a:prstGeom prst="rect">
            <a:avLst/>
          </a:prstGeom>
          <a:noFill/>
        </p:spPr>
        <p:txBody>
          <a:bodyPr wrap="square" anchor="t">
            <a:spAutoFit/>
          </a:bodyPr>
          <a:lstStyle/>
          <a:p>
            <a:pPr algn="l"/>
            <a:r>
              <a:rPr sz="1350" b="0" i="0">
                <a:solidFill>
                  <a:srgbClr val="9A9AA6"/>
                </a:solidFill>
                <a:latin typeface="Segoe UI"/>
              </a:rPr>
              <a:t>Stripe Connect fair-split live, Justice Fund real disbursements, suitcase portability proven.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How We Build</a:t>
            </a:r>
          </a:p>
        </p:txBody>
      </p:sp>
      <p:sp>
        <p:nvSpPr>
          <p:cNvPr id="5" name="Rectangle 4"/>
          <p:cNvSpPr/>
          <p:nvPr/>
        </p:nvSpPr>
        <p:spPr>
          <a:xfrm>
            <a:off x="640080" y="1856232"/>
            <a:ext cx="146304" cy="14630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10424160" cy="457200"/>
          </a:xfrm>
          <a:prstGeom prst="rect">
            <a:avLst/>
          </a:prstGeom>
          <a:noFill/>
        </p:spPr>
        <p:txBody>
          <a:bodyPr wrap="square" anchor="t">
            <a:spAutoFit/>
          </a:bodyPr>
          <a:lstStyle/>
          <a:p>
            <a:pPr algn="l"/>
            <a:r>
              <a:rPr sz="1900" b="1" i="0">
                <a:solidFill>
                  <a:srgbClr val="F5F5F7"/>
                </a:solidFill>
                <a:latin typeface="Segoe UI"/>
              </a:rPr>
              <a:t>Tests are the determinism floor</a:t>
            </a:r>
          </a:p>
        </p:txBody>
      </p:sp>
      <p:sp>
        <p:nvSpPr>
          <p:cNvPr id="7" name="TextBox 6"/>
          <p:cNvSpPr txBox="1"/>
          <p:nvPr/>
        </p:nvSpPr>
        <p:spPr>
          <a:xfrm>
            <a:off x="960120" y="2167128"/>
            <a:ext cx="10424160" cy="640080"/>
          </a:xfrm>
          <a:prstGeom prst="rect">
            <a:avLst/>
          </a:prstGeom>
          <a:noFill/>
        </p:spPr>
        <p:txBody>
          <a:bodyPr wrap="square" anchor="t">
            <a:spAutoFit/>
          </a:bodyPr>
          <a:lstStyle/>
          <a:p>
            <a:pPr algn="l"/>
            <a:r>
              <a:rPr sz="1350" b="0" i="0">
                <a:solidFill>
                  <a:srgbClr val="9A9AA6"/>
                </a:solidFill>
                <a:latin typeface="Segoe UI"/>
              </a:rPr>
              <a:t>5,210+ unit tests; engines are pure functions with zero Payload imports. Model can vary; the suite stays green.</a:t>
            </a:r>
          </a:p>
        </p:txBody>
      </p:sp>
      <p:sp>
        <p:nvSpPr>
          <p:cNvPr id="8" name="Rectangle 7"/>
          <p:cNvSpPr/>
          <p:nvPr/>
        </p:nvSpPr>
        <p:spPr>
          <a:xfrm>
            <a:off x="640080" y="3017520"/>
            <a:ext cx="146304" cy="14630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44368"/>
            <a:ext cx="10424160" cy="457200"/>
          </a:xfrm>
          <a:prstGeom prst="rect">
            <a:avLst/>
          </a:prstGeom>
          <a:noFill/>
        </p:spPr>
        <p:txBody>
          <a:bodyPr wrap="square" anchor="t">
            <a:spAutoFit/>
          </a:bodyPr>
          <a:lstStyle/>
          <a:p>
            <a:pPr algn="l"/>
            <a:r>
              <a:rPr sz="1900" b="1" i="0">
                <a:solidFill>
                  <a:srgbClr val="F5F5F7"/>
                </a:solidFill>
                <a:latin typeface="Segoe UI"/>
              </a:rPr>
              <a:t>Pin the AI model per sprint</a:t>
            </a:r>
          </a:p>
        </p:txBody>
      </p:sp>
      <p:sp>
        <p:nvSpPr>
          <p:cNvPr id="10" name="TextBox 9"/>
          <p:cNvSpPr txBox="1"/>
          <p:nvPr/>
        </p:nvSpPr>
        <p:spPr>
          <a:xfrm>
            <a:off x="960120" y="3328416"/>
            <a:ext cx="10424160" cy="640080"/>
          </a:xfrm>
          <a:prstGeom prst="rect">
            <a:avLst/>
          </a:prstGeom>
          <a:noFill/>
        </p:spPr>
        <p:txBody>
          <a:bodyPr wrap="square" anchor="t">
            <a:spAutoFit/>
          </a:bodyPr>
          <a:lstStyle/>
          <a:p>
            <a:pPr algn="l"/>
            <a:r>
              <a:rPr sz="1350" b="0" i="0">
                <a:solidFill>
                  <a:srgbClr val="9A9AA6"/>
                </a:solidFill>
                <a:latin typeface="Segoe UI"/>
              </a:rPr>
              <a:t>One Opus version per milestone for stylistic coherence; re-baseline at sprint boundaries after a regression pass.</a:t>
            </a:r>
          </a:p>
        </p:txBody>
      </p:sp>
      <p:sp>
        <p:nvSpPr>
          <p:cNvPr id="11" name="Rectangle 10"/>
          <p:cNvSpPr/>
          <p:nvPr/>
        </p:nvSpPr>
        <p:spPr>
          <a:xfrm>
            <a:off x="640080" y="4178808"/>
            <a:ext cx="146304" cy="14630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05656"/>
            <a:ext cx="10424160" cy="457200"/>
          </a:xfrm>
          <a:prstGeom prst="rect">
            <a:avLst/>
          </a:prstGeom>
          <a:noFill/>
        </p:spPr>
        <p:txBody>
          <a:bodyPr wrap="square" anchor="t">
            <a:spAutoFit/>
          </a:bodyPr>
          <a:lstStyle/>
          <a:p>
            <a:pPr algn="l"/>
            <a:r>
              <a:rPr sz="1900" b="1" i="0">
                <a:solidFill>
                  <a:srgbClr val="F5F5F7"/>
                </a:solidFill>
                <a:latin typeface="Segoe UI"/>
              </a:rPr>
              <a:t>Constitutional compliance per feature</a:t>
            </a:r>
          </a:p>
        </p:txBody>
      </p:sp>
      <p:sp>
        <p:nvSpPr>
          <p:cNvPr id="13" name="TextBox 12"/>
          <p:cNvSpPr txBox="1"/>
          <p:nvPr/>
        </p:nvSpPr>
        <p:spPr>
          <a:xfrm>
            <a:off x="960120" y="4489704"/>
            <a:ext cx="10424160" cy="640080"/>
          </a:xfrm>
          <a:prstGeom prst="rect">
            <a:avLst/>
          </a:prstGeom>
          <a:noFill/>
        </p:spPr>
        <p:txBody>
          <a:bodyPr wrap="square" anchor="t">
            <a:spAutoFit/>
          </a:bodyPr>
          <a:lstStyle/>
          <a:p>
            <a:pPr algn="l"/>
            <a:r>
              <a:rPr sz="1350" b="0" i="0">
                <a:solidFill>
                  <a:srgbClr val="9A9AA6"/>
                </a:solidFill>
                <a:latin typeface="Segoe UI"/>
              </a:rPr>
              <a:t>Every feature checked against the anti-extraction constraints — not optional.</a:t>
            </a:r>
          </a:p>
        </p:txBody>
      </p:sp>
      <p:sp>
        <p:nvSpPr>
          <p:cNvPr id="14" name="Rectangle 13"/>
          <p:cNvSpPr/>
          <p:nvPr/>
        </p:nvSpPr>
        <p:spPr>
          <a:xfrm>
            <a:off x="640080" y="5340096"/>
            <a:ext cx="146304" cy="146304"/>
          </a:xfrm>
          <a:prstGeom prst="rect">
            <a:avLst/>
          </a:prstGeom>
          <a:solidFill>
            <a:srgbClr val="9D4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66944"/>
            <a:ext cx="10424160" cy="457200"/>
          </a:xfrm>
          <a:prstGeom prst="rect">
            <a:avLst/>
          </a:prstGeom>
          <a:noFill/>
        </p:spPr>
        <p:txBody>
          <a:bodyPr wrap="square" anchor="t">
            <a:spAutoFit/>
          </a:bodyPr>
          <a:lstStyle/>
          <a:p>
            <a:pPr algn="l"/>
            <a:r>
              <a:rPr sz="1900" b="1" i="0">
                <a:solidFill>
                  <a:srgbClr val="F5F5F7"/>
                </a:solidFill>
                <a:latin typeface="Segoe UI"/>
              </a:rPr>
              <a:t>Headless, API-first, small PRs</a:t>
            </a:r>
          </a:p>
        </p:txBody>
      </p:sp>
      <p:sp>
        <p:nvSpPr>
          <p:cNvPr id="16" name="TextBox 15"/>
          <p:cNvSpPr txBox="1"/>
          <p:nvPr/>
        </p:nvSpPr>
        <p:spPr>
          <a:xfrm>
            <a:off x="960120" y="5650992"/>
            <a:ext cx="10424160" cy="640080"/>
          </a:xfrm>
          <a:prstGeom prst="rect">
            <a:avLst/>
          </a:prstGeom>
          <a:noFill/>
        </p:spPr>
        <p:txBody>
          <a:bodyPr wrap="square" anchor="t">
            <a:spAutoFit/>
          </a:bodyPr>
          <a:lstStyle/>
          <a:p>
            <a:pPr algn="l"/>
            <a:r>
              <a:rPr sz="1350" b="0" i="0">
                <a:solidFill>
                  <a:srgbClr val="9A9AA6"/>
                </a:solidFill>
                <a:latin typeface="Segoe UI"/>
              </a:rPr>
              <a:t>TypeScript strict, single-issue PRs, TDD on the engines.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011680" cy="82296"/>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914400"/>
          </a:xfrm>
          <a:prstGeom prst="rect">
            <a:avLst/>
          </a:prstGeom>
          <a:noFill/>
        </p:spPr>
        <p:txBody>
          <a:bodyPr wrap="square" anchor="t">
            <a:spAutoFit/>
          </a:bodyPr>
          <a:lstStyle/>
          <a:p>
            <a:pPr algn="l"/>
            <a:r>
              <a:rPr sz="3200" b="1" i="0">
                <a:solidFill>
                  <a:srgbClr val="F5F5F7"/>
                </a:solidFill>
                <a:latin typeface="Segoe UI"/>
              </a:rPr>
              <a:t>Open, Votable Roadmap</a:t>
            </a:r>
          </a:p>
        </p:txBody>
      </p:sp>
      <p:sp>
        <p:nvSpPr>
          <p:cNvPr id="5" name="Rectangle 4"/>
          <p:cNvSpPr/>
          <p:nvPr/>
        </p:nvSpPr>
        <p:spPr>
          <a:xfrm>
            <a:off x="640080" y="1856232"/>
            <a:ext cx="146304" cy="14630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10424160" cy="457200"/>
          </a:xfrm>
          <a:prstGeom prst="rect">
            <a:avLst/>
          </a:prstGeom>
          <a:noFill/>
        </p:spPr>
        <p:txBody>
          <a:bodyPr wrap="square" anchor="t">
            <a:spAutoFit/>
          </a:bodyPr>
          <a:lstStyle/>
          <a:p>
            <a:pPr algn="l"/>
            <a:r>
              <a:rPr sz="1900" b="1" i="0">
                <a:solidFill>
                  <a:srgbClr val="F5F5F7"/>
                </a:solidFill>
                <a:latin typeface="Segoe UI"/>
              </a:rPr>
              <a:t>GitHub Projects + Discussions</a:t>
            </a:r>
          </a:p>
        </p:txBody>
      </p:sp>
      <p:sp>
        <p:nvSpPr>
          <p:cNvPr id="7" name="TextBox 6"/>
          <p:cNvSpPr txBox="1"/>
          <p:nvPr/>
        </p:nvSpPr>
        <p:spPr>
          <a:xfrm>
            <a:off x="960120" y="2167128"/>
            <a:ext cx="10424160" cy="640080"/>
          </a:xfrm>
          <a:prstGeom prst="rect">
            <a:avLst/>
          </a:prstGeom>
          <a:noFill/>
        </p:spPr>
        <p:txBody>
          <a:bodyPr wrap="square" anchor="t">
            <a:spAutoFit/>
          </a:bodyPr>
          <a:lstStyle/>
          <a:p>
            <a:pPr algn="l"/>
            <a:r>
              <a:rPr sz="1350" b="0" i="0">
                <a:solidFill>
                  <a:srgbClr val="9A9AA6"/>
                </a:solidFill>
                <a:latin typeface="Segoe UI"/>
              </a:rPr>
              <a:t>Native: roadmap board + Discussions with up-vote reactions. Issues link straight to code. Zero new infra.</a:t>
            </a:r>
          </a:p>
        </p:txBody>
      </p:sp>
      <p:sp>
        <p:nvSpPr>
          <p:cNvPr id="8" name="Rectangle 7"/>
          <p:cNvSpPr/>
          <p:nvPr/>
        </p:nvSpPr>
        <p:spPr>
          <a:xfrm>
            <a:off x="640080" y="3017520"/>
            <a:ext cx="146304" cy="14630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44368"/>
            <a:ext cx="10424160" cy="457200"/>
          </a:xfrm>
          <a:prstGeom prst="rect">
            <a:avLst/>
          </a:prstGeom>
          <a:noFill/>
        </p:spPr>
        <p:txBody>
          <a:bodyPr wrap="square" anchor="t">
            <a:spAutoFit/>
          </a:bodyPr>
          <a:lstStyle/>
          <a:p>
            <a:pPr algn="l"/>
            <a:r>
              <a:rPr sz="1900" b="1" i="0">
                <a:solidFill>
                  <a:srgbClr val="F5F5F7"/>
                </a:solidFill>
                <a:latin typeface="Segoe UI"/>
              </a:rPr>
              <a:t>Fider (open-source feedback board)</a:t>
            </a:r>
          </a:p>
        </p:txBody>
      </p:sp>
      <p:sp>
        <p:nvSpPr>
          <p:cNvPr id="10" name="TextBox 9"/>
          <p:cNvSpPr txBox="1"/>
          <p:nvPr/>
        </p:nvSpPr>
        <p:spPr>
          <a:xfrm>
            <a:off x="960120" y="3328416"/>
            <a:ext cx="10424160" cy="640080"/>
          </a:xfrm>
          <a:prstGeom prst="rect">
            <a:avLst/>
          </a:prstGeom>
          <a:noFill/>
        </p:spPr>
        <p:txBody>
          <a:bodyPr wrap="square" anchor="t">
            <a:spAutoFit/>
          </a:bodyPr>
          <a:lstStyle/>
          <a:p>
            <a:pPr algn="l"/>
            <a:r>
              <a:rPr sz="1350" b="0" i="0">
                <a:solidFill>
                  <a:srgbClr val="9A9AA6"/>
                </a:solidFill>
                <a:latin typeface="Segoe UI"/>
              </a:rPr>
              <a:t>Self-hostable, fits sovereignty ethos; could ship as an Angel OS tenant applet. Public up-vote queue → GitHub issues.</a:t>
            </a:r>
          </a:p>
        </p:txBody>
      </p:sp>
      <p:sp>
        <p:nvSpPr>
          <p:cNvPr id="11" name="Rectangle 10"/>
          <p:cNvSpPr/>
          <p:nvPr/>
        </p:nvSpPr>
        <p:spPr>
          <a:xfrm>
            <a:off x="640080" y="4178808"/>
            <a:ext cx="146304" cy="14630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05656"/>
            <a:ext cx="10424160" cy="457200"/>
          </a:xfrm>
          <a:prstGeom prst="rect">
            <a:avLst/>
          </a:prstGeom>
          <a:noFill/>
        </p:spPr>
        <p:txBody>
          <a:bodyPr wrap="square" anchor="t">
            <a:spAutoFit/>
          </a:bodyPr>
          <a:lstStyle/>
          <a:p>
            <a:pPr algn="l"/>
            <a:r>
              <a:rPr sz="1900" b="1" i="0">
                <a:solidFill>
                  <a:srgbClr val="F5F5F7"/>
                </a:solidFill>
                <a:latin typeface="Segoe UI"/>
              </a:rPr>
              <a:t>Canny / Featurebase (hosted)</a:t>
            </a:r>
          </a:p>
        </p:txBody>
      </p:sp>
      <p:sp>
        <p:nvSpPr>
          <p:cNvPr id="13" name="TextBox 12"/>
          <p:cNvSpPr txBox="1"/>
          <p:nvPr/>
        </p:nvSpPr>
        <p:spPr>
          <a:xfrm>
            <a:off x="960120" y="4489704"/>
            <a:ext cx="10424160" cy="640080"/>
          </a:xfrm>
          <a:prstGeom prst="rect">
            <a:avLst/>
          </a:prstGeom>
          <a:noFill/>
        </p:spPr>
        <p:txBody>
          <a:bodyPr wrap="square" anchor="t">
            <a:spAutoFit/>
          </a:bodyPr>
          <a:lstStyle/>
          <a:p>
            <a:pPr algn="l"/>
            <a:r>
              <a:rPr sz="1350" b="0" i="0">
                <a:solidFill>
                  <a:srgbClr val="9A9AA6"/>
                </a:solidFill>
                <a:latin typeface="Segoe UI"/>
              </a:rPr>
              <a:t>Polished public roadmaps with voting + GitHub sync; fastest to stand up, SaaS dependency.</a:t>
            </a:r>
          </a:p>
        </p:txBody>
      </p:sp>
      <p:sp>
        <p:nvSpPr>
          <p:cNvPr id="14" name="Rectangle 13"/>
          <p:cNvSpPr/>
          <p:nvPr/>
        </p:nvSpPr>
        <p:spPr>
          <a:xfrm>
            <a:off x="640080" y="5340096"/>
            <a:ext cx="146304" cy="14630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66944"/>
            <a:ext cx="10424160" cy="457200"/>
          </a:xfrm>
          <a:prstGeom prst="rect">
            <a:avLst/>
          </a:prstGeom>
          <a:noFill/>
        </p:spPr>
        <p:txBody>
          <a:bodyPr wrap="square" anchor="t">
            <a:spAutoFit/>
          </a:bodyPr>
          <a:lstStyle/>
          <a:p>
            <a:pPr algn="l"/>
            <a:r>
              <a:rPr sz="1900" b="1" i="0">
                <a:solidFill>
                  <a:srgbClr val="F5F5F7"/>
                </a:solidFill>
                <a:latin typeface="Segoe UI"/>
              </a:rPr>
              <a:t>Recommendation</a:t>
            </a:r>
          </a:p>
        </p:txBody>
      </p:sp>
      <p:sp>
        <p:nvSpPr>
          <p:cNvPr id="16" name="TextBox 15"/>
          <p:cNvSpPr txBox="1"/>
          <p:nvPr/>
        </p:nvSpPr>
        <p:spPr>
          <a:xfrm>
            <a:off x="960120" y="5650992"/>
            <a:ext cx="10424160" cy="640080"/>
          </a:xfrm>
          <a:prstGeom prst="rect">
            <a:avLst/>
          </a:prstGeom>
          <a:noFill/>
        </p:spPr>
        <p:txBody>
          <a:bodyPr wrap="square" anchor="t">
            <a:spAutoFit/>
          </a:bodyPr>
          <a:lstStyle/>
          <a:p>
            <a:pPr algn="l"/>
            <a:r>
              <a:rPr sz="1350" b="0" i="0">
                <a:solidFill>
                  <a:srgbClr val="9A9AA6"/>
                </a:solidFill>
                <a:latin typeface="Segoe UI"/>
              </a:rPr>
              <a:t>Start on GitHub Projects now (free, traceable); graduate to a self-hosted Fider applet as the community grows.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8"/>
        </a:solidFill>
        <a:effectLst/>
      </p:bgPr>
    </p:bg>
    <p:spTree>
      <p:nvGrpSpPr>
        <p:cNvPr id="1" name=""/>
        <p:cNvGrpSpPr/>
        <p:nvPr/>
      </p:nvGrpSpPr>
      <p:grpSpPr/>
      <p:sp>
        <p:nvSpPr>
          <p:cNvPr id="2" name="Rectangle 1"/>
          <p:cNvSpPr/>
          <p:nvPr/>
        </p:nvSpPr>
        <p:spPr>
          <a:xfrm>
            <a:off x="0" y="2743200"/>
            <a:ext cx="12191695" cy="54864"/>
          </a:xfrm>
          <a:prstGeom prst="rect">
            <a:avLst/>
          </a:prstGeom>
          <a:solidFill>
            <a:srgbClr val="FF9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10698480" cy="914400"/>
          </a:xfrm>
          <a:prstGeom prst="rect">
            <a:avLst/>
          </a:prstGeom>
          <a:noFill/>
        </p:spPr>
        <p:txBody>
          <a:bodyPr wrap="square" anchor="t">
            <a:spAutoFit/>
          </a:bodyPr>
          <a:lstStyle/>
          <a:p>
            <a:pPr algn="ctr"/>
            <a:r>
              <a:rPr sz="4400" b="1" i="0">
                <a:solidFill>
                  <a:srgbClr val="FF9F1C"/>
                </a:solidFill>
                <a:latin typeface="Segoe UI"/>
              </a:rPr>
              <a:t>Everyone gets an Angel.</a:t>
            </a:r>
          </a:p>
        </p:txBody>
      </p:sp>
      <p:sp>
        <p:nvSpPr>
          <p:cNvPr id="4" name="TextBox 3"/>
          <p:cNvSpPr txBox="1"/>
          <p:nvPr/>
        </p:nvSpPr>
        <p:spPr>
          <a:xfrm>
            <a:off x="731520" y="4023360"/>
            <a:ext cx="10698480" cy="640080"/>
          </a:xfrm>
          <a:prstGeom prst="rect">
            <a:avLst/>
          </a:prstGeom>
          <a:noFill/>
        </p:spPr>
        <p:txBody>
          <a:bodyPr wrap="square" anchor="t">
            <a:spAutoFit/>
          </a:bodyPr>
          <a:lstStyle/>
          <a:p>
            <a:pPr algn="ctr"/>
            <a:r>
              <a:rPr sz="1800" b="0" i="1">
                <a:solidFill>
                  <a:srgbClr val="F5F5F7"/>
                </a:solidFill>
                <a:latin typeface="Segoe UI"/>
              </a:rPr>
              <a:t>Answer 53: the whole point of existence is to learn to love.</a:t>
            </a:r>
          </a:p>
        </p:txBody>
      </p:sp>
      <p:sp>
        <p:nvSpPr>
          <p:cNvPr id="5" name="TextBox 4"/>
          <p:cNvSpPr txBox="1"/>
          <p:nvPr/>
        </p:nvSpPr>
        <p:spPr>
          <a:xfrm>
            <a:off x="731520" y="6126480"/>
            <a:ext cx="10698480" cy="457200"/>
          </a:xfrm>
          <a:prstGeom prst="rect">
            <a:avLst/>
          </a:prstGeom>
          <a:noFill/>
        </p:spPr>
        <p:txBody>
          <a:bodyPr wrap="square" anchor="t">
            <a:spAutoFit/>
          </a:bodyPr>
          <a:lstStyle/>
          <a:p>
            <a:pPr algn="ctr"/>
            <a:r>
              <a:rPr sz="1200" b="0" i="0">
                <a:solidFill>
                  <a:srgbClr val="9A9AA6"/>
                </a:solidFill>
                <a:latin typeface="Segoe UI"/>
              </a:rPr>
              <a:t>github.com/The-Angel-OS/angels-os   ·   spacesangels.com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